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74ffdbf-82f6-3432-c7e7-0fa2af7abce5}">
          <p14:sldIdLst>
            <p14:sldId id="256"/>
          </p14:sldIdLst>
        </p14:section>
        <p14:section name="Why" id="{573f00aa-0db0-8d32-d5e9-340835b83c6c}">
          <p14:sldIdLst>
            <p14:sldId id="257"/>
            <p14:sldId id="258"/>
          </p14:sldIdLst>
        </p14:section>
        <p14:section name="How" id="{37e95c91-6ee6-ea21-6fb9-a4fae43fd9b4}">
          <p14:sldIdLst>
            <p14:sldId id="259"/>
            <p14:sldId id="260"/>
            <p14:sldId id="261"/>
          </p14:sldIdLst>
        </p14:section>
        <p14:section name="Demo and results" id="{11995065-5fa5-ab53-8f4e-3822ecf46dd6}">
          <p14:sldIdLst>
            <p14:sldId id="262"/>
            <p14:sldId id="263"/>
            <p14:sldId id="264"/>
          </p14:sldIdLst>
        </p14:section>
        <p14:section name="Next" id="{165ed727-74a7-3e03-c61d-a3f32e901153}">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I'll show a tool I built that answers questions about our ePolicies. It reads our own policy files, answers in plain English, and shows exactly which policy and section each answer came from. I'll explain how it works, show a live demo, and share results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policies are spread across 235 documents. To answer one question, people often open several pages and scroll through long sections. A general AI chatbot isn't safe for this, because it can confidently invent an answer. We need something that answers only from our documents and proves where the answer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was a trustworthy assistant. Three rules: answer only from our files, always show the source, and admit when the files don't cover something. It also had to be easy to refresh when the scraper updates the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First, each document is cut into small sections at its headings. Second, each section is turned into a list of numbers that represents its meaning. That's called an embedding: think of it as coordinates where similar ideas sit close together. Third, when someone asks a question, we search by meaning and also by exact words, like a policy code, and merge the two lists. Fourth, the AI checks whether it found enough. If not, it searches again with new queries, at most three rounds. Then it writes an answer that cites the sources, and the code double-checks that each cited passage really contains what the answer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row is indexing, which runs once and again whenever files change: files go in, get split into about ten and a half thousand sections, get turned into numbers by the Gemini embedding model, and are saved in a PostgreSQL database. The bottom row is what happens for each question: plan, search the database by meaning and by keywords, check whether there's enough evidence, search again if needed, write the answer, and verify the citations. The search loop is limited to three rounds so it never runs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comes through our company's Vertex AI project, so I log in with my company account and no secret key sits in the code. Everything is stored in one PostgreSQL database, which also does the keyword search, so we don't need a separate search engine. Python runs the logic and Next.js is the website. The hybrid search matters because meaning search is good for 'what is the rule on X', while keyword search catches exact codes and terms. Reciprocal Rank Fusion is a simple formula that combines the two ranked lists so items ranked well by both come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meeting, start the database, the backend and the website, each in its own terminal (full commands are in the run-from-start doc). Say that each answer takes about 20 to 40 seconds before you ask. 1) Show the Knowledge base page: all 235 policies are indexed. 2) In Chat, ask 'What is the policy on coordination of benefits?' and point at the sections in the answer. 3) Click S1 to show the exact policy passage; optionally turn on Diagnostics to show the search rounds. 4) Ask something the policies don't cover, so the team sees it says 'not found' instead of making something up. Backup if the website fails: in the backend terminal run python -m app.cli ask "What is the policy on coordination of benefits?" --diagnostics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235 files were processed with zero failures, producing about ten and a half thousand searchable sections. 9,321 embeddings were generated and 1,182 were reused because the same text appears more than once. On a real coordination-of-benefits question, the answer pulled from eight passages in two COB documents, and the code confirmed all eight citations; it took about 39 seconds with three search rounds. The project has 110 automated tests. I don't have an accuracy percentage on real questions yet, and time saved and cost per question have not been measured; that's the next thing I want to measure, with a set of questions where we already know the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real problems came up. First, the plain API key didn't work, because our company provides Gemini through Vertex AI, so I added that login method. Second, the laptop's PostgreSQL didn't have the pgvector add-on, and installing it needs admin rights, so I wrote a fallback that's still fast: about two milliseconds per search. Third, the newest Gemini model wasn't enabled in our project, so I switched to gemini-2.5-flash, which is just a setting. Fourth, long answers were sometimes cut off; I fixed that by turning off the model's extra thinking and adding an automatic retry with a plain-text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works today on my laptop, but it's not a shared service yet: there's no login, and the database needs starting after a restart. Very broad questions can be flagged as incomplete, because no single answer can summarise dozens of pages. Next I'd like to build a test set of real questions to measure accuracy, confirm the data approval, ask IT for pgvector, and, if the team finds it useful, move it to a shared server with company sign-on.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and short answers:
1. Does it use the internet or general knowledge? No. It only searches our 235 policy files. The only outside connection is Gemini in our Vertex AI project, which receives the question and the matching passages. Answers without a verified source are blocked.
2. What if the answer isn't in the policies? It says it could not find it and shows no sources.
3. How do we know it's correct? Every sentence has a source marker that opens the exact passage, and the code checks each citation exists, was retrieved and contains the claim's words and numbers. Check the source for important decisions.
4. How accurate is it? Not measured on real questions yet; next step is a 20-question test set.
5. How long does an answer take? About 39 seconds for the COB demo question (3 search rounds, 5 AI calls).
6. What if policies are updated? Run python -m app.cli ingest again; only new or changed files are processed.
7. Is our data safe? Files stay on the laptop; only passages go to Gemini in our company Vertex AI project. Login is the company gcloud account, no API key in the code. Data approval should be confirmed with compliance.
8. What does it cost? Not measured. Indexing embedded 9,321 chunks once; each question uses a few Gemini calls (token counts in Diagnostics).
9. Can others use it? Today it runs on one laptop. A team version needs a shared server and company sign-on.
10. Why not Ctrl+F? Keyword search misses reworded answers and can't combine sections; this searches by meaning and keywords and links every passage it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560320"/>
            <a:ext cx="8046720" cy="54864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4"/>
                </a:solidFill>
              </a:rPr>
              <a:t>ePolicies AI Assistant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3.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4400" b="1" dirty="0">
                <a:solidFill>
                  <a:schemeClr val="bg1"/>
                </a:solidFill>
              </a:rPr>
              <a:t>ePolicies AI Assistant</a:t>
            </a:r>
            <a:endParaRPr lang="en-US" sz="4400" dirty="0"/>
          </a:p>
        </p:txBody>
      </p:sp>
      <p:sp>
        <p:nvSpPr>
          <p:cNvPr id="3" name="Text 0"/>
          <p:cNvSpPr/>
          <p:nvPr>
            <p:ph idx="101" type="body" hasCustomPrompt="1"/>
          </p:nvPr>
        </p:nvSpPr>
        <p:spPr>
          <a:xfrm>
            <a:off x="548640" y="2560320"/>
            <a:ext cx="8046720" cy="548640"/>
          </a:xfrm>
          <a:prstGeom prst="rect">
            <a:avLst/>
          </a:prstGeom>
          <a:noFill/>
          <a:ln/>
        </p:spPr>
        <p:txBody>
          <a:bodyPr wrap="square" lIns="0" tIns="0" rIns="0" bIns="0" rtlCol="0"/>
          <a:lstStyle/>
          <a:p>
            <a:pPr algn="l" indent="0" marL="0">
              <a:buNone/>
            </a:pPr>
            <a:r>
              <a:rPr lang="en-US" sz="2000" dirty="0">
                <a:solidFill>
                  <a:schemeClr val="accent6"/>
                </a:solidFill>
              </a:rPr>
              <a:t>Ask policy questions, get answers with verified sources</a:t>
            </a:r>
            <a:endParaRPr lang="en-US" sz="2000" dirty="0"/>
          </a:p>
        </p:txBody>
      </p:sp>
      <p:sp>
        <p:nvSpPr>
          <p:cNvPr id="4" name="Text 2"/>
          <p:cNvSpPr txBox="1"/>
          <p:nvPr/>
        </p:nvSpPr>
        <p:spPr>
          <a:xfrm>
            <a:off x="548640" y="3246120"/>
            <a:ext cx="8046720" cy="365760"/>
          </a:xfrm>
          <a:prstGeom prst="rect">
            <a:avLst/>
          </a:prstGeom>
          <a:noFill/>
          <a:ln/>
        </p:spPr>
        <p:txBody>
          <a:bodyPr wrap="square" lIns="0" tIns="0" rIns="0" bIns="0" rtlCol="0" anchor="t"/>
          <a:lstStyle/>
          <a:p>
            <a:pPr indent="0" marL="0">
              <a:buNone/>
            </a:pPr>
            <a:r>
              <a:rPr lang="en-US" sz="1400" dirty="0">
                <a:solidFill>
                  <a:schemeClr val="bg1"/>
                </a:solidFill>
              </a:rPr>
              <a:t>Built on our 235 ePolicies documents  ·  Google Gemini through Vertex AI</a:t>
            </a:r>
            <a:endParaRPr lang="en-US" sz="1400" dirty="0"/>
          </a:p>
        </p:txBody>
      </p:sp>
      <p:sp>
        <p:nvSpPr>
          <p:cNvPr id="5" name="Text 3"/>
          <p:cNvSpPr txBox="1"/>
          <p:nvPr/>
        </p:nvSpPr>
        <p:spPr>
          <a:xfrm>
            <a:off x="548640" y="4343400"/>
            <a:ext cx="8046720" cy="320040"/>
          </a:xfrm>
          <a:prstGeom prst="rect">
            <a:avLst/>
          </a:prstGeom>
          <a:noFill/>
          <a:ln/>
        </p:spPr>
        <p:txBody>
          <a:bodyPr wrap="square" lIns="0" tIns="0" rIns="0" bIns="0" rtlCol="0" anchor="t"/>
          <a:lstStyle/>
          <a:p>
            <a:pPr indent="0" marL="0">
              <a:buNone/>
            </a:pPr>
            <a:r>
              <a:rPr lang="en-US" sz="1200" dirty="0">
                <a:solidFill>
                  <a:schemeClr val="accent6"/>
                </a:solidFill>
              </a:rPr>
              <a:t>Sai Charan Peddanaboina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The problem</a:t>
            </a:r>
            <a:endParaRPr lang="en-US" sz="3600" dirty="0"/>
          </a:p>
        </p:txBody>
      </p:sp>
      <p:pic>
        <p:nvPicPr>
          <p:cNvPr id="3" name="problem-icon-0" descr="preencoded.png">    </p:cNvPr>
          <p:cNvPicPr>
            <a:picLocks noChangeAspect="1"/>
          </p:cNvPicPr>
          <p:nvPr/>
        </p:nvPicPr>
        <p:blipFill>
          <a:blip r:embed="rId1"/>
          <a:stretch>
            <a:fillRect/>
          </a:stretch>
        </p:blipFill>
        <p:spPr>
          <a:xfrm>
            <a:off x="502920" y="1280160"/>
            <a:ext cx="411480" cy="411480"/>
          </a:xfrm>
          <a:prstGeom prst="rect">
            <a:avLst/>
          </a:prstGeom>
        </p:spPr>
      </p:pic>
      <p:sp>
        <p:nvSpPr>
          <p:cNvPr id="4" name="Text 1"/>
          <p:cNvSpPr txBox="1"/>
          <p:nvPr/>
        </p:nvSpPr>
        <p:spPr>
          <a:xfrm>
            <a:off x="1097280" y="1234440"/>
            <a:ext cx="4206240" cy="320040"/>
          </a:xfrm>
          <a:prstGeom prst="rect">
            <a:avLst/>
          </a:prstGeom>
          <a:noFill/>
          <a:ln/>
        </p:spPr>
        <p:txBody>
          <a:bodyPr wrap="square" lIns="0" tIns="0" rIns="0" bIns="0" rtlCol="0" anchor="t"/>
          <a:lstStyle/>
          <a:p>
            <a:pPr indent="0" marL="0">
              <a:buNone/>
            </a:pPr>
            <a:r>
              <a:rPr lang="en-US" sz="1800" b="1" dirty="0">
                <a:solidFill>
                  <a:schemeClr val="tx2"/>
                </a:solidFill>
              </a:rPr>
              <a:t>Many documents</a:t>
            </a:r>
            <a:endParaRPr lang="en-US" sz="1800" dirty="0"/>
          </a:p>
        </p:txBody>
      </p:sp>
      <p:sp>
        <p:nvSpPr>
          <p:cNvPr id="5" name="Text 2"/>
          <p:cNvSpPr txBox="1"/>
          <p:nvPr/>
        </p:nvSpPr>
        <p:spPr>
          <a:xfrm>
            <a:off x="1097280" y="1581912"/>
            <a:ext cx="4206240" cy="594360"/>
          </a:xfrm>
          <a:prstGeom prst="rect">
            <a:avLst/>
          </a:prstGeom>
          <a:noFill/>
          <a:ln/>
        </p:spPr>
        <p:txBody>
          <a:bodyPr wrap="square" lIns="0" tIns="0" rIns="0" bIns="0" rtlCol="0" anchor="t"/>
          <a:lstStyle/>
          <a:p>
            <a:pPr indent="0" marL="0">
              <a:buNone/>
            </a:pPr>
            <a:r>
              <a:rPr lang="en-US" sz="1400" dirty="0">
                <a:solidFill>
                  <a:schemeClr val="accent4"/>
                </a:solidFill>
              </a:rPr>
              <a:t>Answers are spread across 235 policy files; one topic can sit in several of them</a:t>
            </a:r>
            <a:endParaRPr lang="en-US" sz="1400" dirty="0"/>
          </a:p>
        </p:txBody>
      </p:sp>
      <p:pic>
        <p:nvPicPr>
          <p:cNvPr id="6" name="problem-icon-1" descr="preencoded.png">    </p:cNvPr>
          <p:cNvPicPr>
            <a:picLocks noChangeAspect="1"/>
          </p:cNvPicPr>
          <p:nvPr/>
        </p:nvPicPr>
        <p:blipFill>
          <a:blip r:embed="rId2"/>
          <a:stretch>
            <a:fillRect/>
          </a:stretch>
        </p:blipFill>
        <p:spPr>
          <a:xfrm>
            <a:off x="502920" y="2377440"/>
            <a:ext cx="411480" cy="411480"/>
          </a:xfrm>
          <a:prstGeom prst="rect">
            <a:avLst/>
          </a:prstGeom>
        </p:spPr>
      </p:pic>
      <p:sp>
        <p:nvSpPr>
          <p:cNvPr id="7" name="Text 3"/>
          <p:cNvSpPr txBox="1"/>
          <p:nvPr/>
        </p:nvSpPr>
        <p:spPr>
          <a:xfrm>
            <a:off x="1097280" y="2331720"/>
            <a:ext cx="4206240" cy="320040"/>
          </a:xfrm>
          <a:prstGeom prst="rect">
            <a:avLst/>
          </a:prstGeom>
          <a:noFill/>
          <a:ln/>
        </p:spPr>
        <p:txBody>
          <a:bodyPr wrap="square" lIns="0" tIns="0" rIns="0" bIns="0" rtlCol="0" anchor="t"/>
          <a:lstStyle/>
          <a:p>
            <a:pPr indent="0" marL="0">
              <a:buNone/>
            </a:pPr>
            <a:r>
              <a:rPr lang="en-US" sz="1800" b="1" dirty="0">
                <a:solidFill>
                  <a:schemeClr val="tx2"/>
                </a:solidFill>
              </a:rPr>
              <a:t>Slow to search by hand</a:t>
            </a:r>
            <a:endParaRPr lang="en-US" sz="1800" dirty="0"/>
          </a:p>
        </p:txBody>
      </p:sp>
      <p:sp>
        <p:nvSpPr>
          <p:cNvPr id="8" name="Text 4"/>
          <p:cNvSpPr txBox="1"/>
          <p:nvPr/>
        </p:nvSpPr>
        <p:spPr>
          <a:xfrm>
            <a:off x="1097280" y="2679192"/>
            <a:ext cx="4206240" cy="594360"/>
          </a:xfrm>
          <a:prstGeom prst="rect">
            <a:avLst/>
          </a:prstGeom>
          <a:noFill/>
          <a:ln/>
        </p:spPr>
        <p:txBody>
          <a:bodyPr wrap="square" lIns="0" tIns="0" rIns="0" bIns="0" rtlCol="0" anchor="t"/>
          <a:lstStyle/>
          <a:p>
            <a:pPr indent="0" marL="0">
              <a:buNone/>
            </a:pPr>
            <a:r>
              <a:rPr lang="en-US" sz="1400" dirty="0">
                <a:solidFill>
                  <a:schemeClr val="accent4"/>
                </a:solidFill>
              </a:rPr>
              <a:t>Finding one rule means opening long pages and scrolling through sections</a:t>
            </a:r>
            <a:endParaRPr lang="en-US" sz="1400" dirty="0"/>
          </a:p>
        </p:txBody>
      </p:sp>
      <p:pic>
        <p:nvPicPr>
          <p:cNvPr id="9" name="problem-icon-2" descr="preencoded.png">    </p:cNvPr>
          <p:cNvPicPr>
            <a:picLocks noChangeAspect="1"/>
          </p:cNvPicPr>
          <p:nvPr/>
        </p:nvPicPr>
        <p:blipFill>
          <a:blip r:embed="rId3"/>
          <a:stretch>
            <a:fillRect/>
          </a:stretch>
        </p:blipFill>
        <p:spPr>
          <a:xfrm>
            <a:off x="502920" y="3474720"/>
            <a:ext cx="411480" cy="411480"/>
          </a:xfrm>
          <a:prstGeom prst="rect">
            <a:avLst/>
          </a:prstGeom>
        </p:spPr>
      </p:pic>
      <p:sp>
        <p:nvSpPr>
          <p:cNvPr id="10" name="Text 5"/>
          <p:cNvSpPr txBox="1"/>
          <p:nvPr/>
        </p:nvSpPr>
        <p:spPr>
          <a:xfrm>
            <a:off x="1097280" y="3429000"/>
            <a:ext cx="4206240" cy="320040"/>
          </a:xfrm>
          <a:prstGeom prst="rect">
            <a:avLst/>
          </a:prstGeom>
          <a:noFill/>
          <a:ln/>
        </p:spPr>
        <p:txBody>
          <a:bodyPr wrap="square" lIns="0" tIns="0" rIns="0" bIns="0" rtlCol="0" anchor="t"/>
          <a:lstStyle/>
          <a:p>
            <a:pPr indent="0" marL="0">
              <a:buNone/>
            </a:pPr>
            <a:r>
              <a:rPr lang="en-US" sz="1800" b="1" dirty="0">
                <a:solidFill>
                  <a:schemeClr val="tx2"/>
                </a:solidFill>
              </a:rPr>
              <a:t>General chatbots are risky</a:t>
            </a:r>
            <a:endParaRPr lang="en-US" sz="1800" dirty="0"/>
          </a:p>
        </p:txBody>
      </p:sp>
      <p:sp>
        <p:nvSpPr>
          <p:cNvPr id="11" name="Text 6"/>
          <p:cNvSpPr txBox="1"/>
          <p:nvPr/>
        </p:nvSpPr>
        <p:spPr>
          <a:xfrm>
            <a:off x="1097280" y="3776472"/>
            <a:ext cx="4206240" cy="594360"/>
          </a:xfrm>
          <a:prstGeom prst="rect">
            <a:avLst/>
          </a:prstGeom>
          <a:noFill/>
          <a:ln/>
        </p:spPr>
        <p:txBody>
          <a:bodyPr wrap="square" lIns="0" tIns="0" rIns="0" bIns="0" rtlCol="0" anchor="t"/>
          <a:lstStyle/>
          <a:p>
            <a:pPr indent="0" marL="0">
              <a:buNone/>
            </a:pPr>
            <a:r>
              <a:rPr lang="en-US" sz="1400" dirty="0">
                <a:solidFill>
                  <a:schemeClr val="accent4"/>
                </a:solidFill>
              </a:rPr>
              <a:t>They can invent answers that sound right, with no source to check</a:t>
            </a:r>
            <a:endParaRPr lang="en-US" sz="1400" dirty="0"/>
          </a:p>
        </p:txBody>
      </p:sp>
      <p:sp>
        <p:nvSpPr>
          <p:cNvPr id="12" name="problem-stat-card"/>
          <p:cNvSpPr/>
          <p:nvPr/>
        </p:nvSpPr>
        <p:spPr>
          <a:xfrm>
            <a:off x="5669280" y="1234440"/>
            <a:ext cx="3017520" cy="3154680"/>
          </a:xfrm>
          <a:prstGeom prst="roundRect">
            <a:avLst>
              <a:gd name="adj" fmla="val 2424"/>
            </a:avLst>
          </a:prstGeom>
          <a:solidFill>
            <a:schemeClr val="tx2"/>
          </a:solidFill>
          <a:ln w="12700">
            <a:solidFill>
              <a:schemeClr val="tx2"/>
            </a:solidFill>
            <a:prstDash val="solid"/>
          </a:ln>
        </p:spPr>
      </p:sp>
      <p:sp>
        <p:nvSpPr>
          <p:cNvPr id="13" name="Text 8"/>
          <p:cNvSpPr txBox="1"/>
          <p:nvPr/>
        </p:nvSpPr>
        <p:spPr>
          <a:xfrm>
            <a:off x="5669280" y="1600200"/>
            <a:ext cx="3017520" cy="1097280"/>
          </a:xfrm>
          <a:prstGeom prst="rect">
            <a:avLst/>
          </a:prstGeom>
          <a:noFill/>
          <a:ln/>
        </p:spPr>
        <p:txBody>
          <a:bodyPr wrap="square" lIns="0" tIns="0" rIns="0" bIns="0" rtlCol="0" anchor="t"/>
          <a:lstStyle/>
          <a:p>
            <a:pPr algn="ctr" indent="0" marL="0">
              <a:buNone/>
            </a:pPr>
            <a:r>
              <a:rPr lang="en-US" sz="7200" b="1" dirty="0">
                <a:solidFill>
                  <a:schemeClr val="bg1"/>
                </a:solidFill>
                <a:latin typeface="Cambria" pitchFamily="34" charset="0"/>
                <a:ea typeface="Cambria" pitchFamily="34" charset="-122"/>
                <a:cs typeface="Cambria" pitchFamily="34" charset="-120"/>
              </a:rPr>
              <a:t>235</a:t>
            </a:r>
            <a:endParaRPr lang="en-US" sz="7200" dirty="0"/>
          </a:p>
        </p:txBody>
      </p:sp>
      <p:sp>
        <p:nvSpPr>
          <p:cNvPr id="14" name="Text 9"/>
          <p:cNvSpPr txBox="1"/>
          <p:nvPr/>
        </p:nvSpPr>
        <p:spPr>
          <a:xfrm>
            <a:off x="5669280" y="2697480"/>
            <a:ext cx="3017520" cy="365760"/>
          </a:xfrm>
          <a:prstGeom prst="rect">
            <a:avLst/>
          </a:prstGeom>
          <a:noFill/>
          <a:ln/>
        </p:spPr>
        <p:txBody>
          <a:bodyPr wrap="square" lIns="0" tIns="0" rIns="0" bIns="0" rtlCol="0" anchor="t"/>
          <a:lstStyle/>
          <a:p>
            <a:pPr algn="ctr" indent="0" marL="0">
              <a:buNone/>
            </a:pPr>
            <a:r>
              <a:rPr lang="en-US" sz="1800" dirty="0">
                <a:solidFill>
                  <a:schemeClr val="bg1"/>
                </a:solidFill>
              </a:rPr>
              <a:t>policy documents</a:t>
            </a:r>
            <a:endParaRPr lang="en-US" sz="1800" dirty="0"/>
          </a:p>
        </p:txBody>
      </p:sp>
      <p:sp>
        <p:nvSpPr>
          <p:cNvPr id="15" name="Text 10"/>
          <p:cNvSpPr txBox="1"/>
          <p:nvPr/>
        </p:nvSpPr>
        <p:spPr>
          <a:xfrm>
            <a:off x="5943600" y="3200400"/>
            <a:ext cx="2468880" cy="822960"/>
          </a:xfrm>
          <a:prstGeom prst="rect">
            <a:avLst/>
          </a:prstGeom>
          <a:noFill/>
          <a:ln/>
        </p:spPr>
        <p:txBody>
          <a:bodyPr wrap="square" lIns="0" tIns="0" rIns="0" bIns="0" rtlCol="0" anchor="t"/>
          <a:lstStyle/>
          <a:p>
            <a:pPr algn="ctr" indent="0" marL="0">
              <a:buNone/>
            </a:pPr>
            <a:r>
              <a:rPr lang="en-US" sz="1200" dirty="0">
                <a:solidFill>
                  <a:schemeClr val="accent6"/>
                </a:solidFill>
              </a:rPr>
              <a:t>Medicare HRP claim processing, coding, COB, DME and more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Goal of the project</a:t>
            </a:r>
            <a:endParaRPr lang="en-US" sz="3600" dirty="0"/>
          </a:p>
        </p:txBody>
      </p:sp>
      <p:sp>
        <p:nvSpPr>
          <p:cNvPr id="3" name="goal-card-0"/>
          <p:cNvSpPr/>
          <p:nvPr/>
        </p:nvSpPr>
        <p:spPr>
          <a:xfrm>
            <a:off x="457200" y="1188720"/>
            <a:ext cx="4023360" cy="1508760"/>
          </a:xfrm>
          <a:prstGeom prst="roundRect">
            <a:avLst>
              <a:gd name="adj" fmla="val 4848"/>
            </a:avLst>
          </a:prstGeom>
          <a:solidFill>
            <a:schemeClr val="bg2"/>
          </a:solidFill>
          <a:ln w="12700">
            <a:solidFill>
              <a:schemeClr val="bg2"/>
            </a:solidFill>
            <a:prstDash val="solid"/>
          </a:ln>
        </p:spPr>
      </p:sp>
      <p:sp>
        <p:nvSpPr>
          <p:cNvPr id="4" name="goal-0-circle"/>
          <p:cNvSpPr/>
          <p:nvPr/>
        </p:nvSpPr>
        <p:spPr>
          <a:xfrm>
            <a:off x="731520" y="1508760"/>
            <a:ext cx="731520" cy="731520"/>
          </a:xfrm>
          <a:prstGeom prst="ellipse">
            <a:avLst/>
          </a:prstGeom>
          <a:solidFill>
            <a:schemeClr val="accent1"/>
          </a:solidFill>
          <a:ln w="12700">
            <a:solidFill>
              <a:schemeClr val="accent1"/>
            </a:solidFill>
            <a:prstDash val="solid"/>
          </a:ln>
        </p:spPr>
      </p:sp>
      <p:pic>
        <p:nvPicPr>
          <p:cNvPr id="5" name="goal-0-icon" descr="preencoded.png">    </p:cNvPr>
          <p:cNvPicPr>
            <a:picLocks noChangeAspect="1"/>
          </p:cNvPicPr>
          <p:nvPr/>
        </p:nvPicPr>
        <p:blipFill>
          <a:blip r:embed="rId1"/>
          <a:stretch>
            <a:fillRect/>
          </a:stretch>
        </p:blipFill>
        <p:spPr>
          <a:xfrm>
            <a:off x="914400" y="1691640"/>
            <a:ext cx="365760" cy="365760"/>
          </a:xfrm>
          <a:prstGeom prst="rect">
            <a:avLst/>
          </a:prstGeom>
        </p:spPr>
      </p:pic>
      <p:sp>
        <p:nvSpPr>
          <p:cNvPr id="6" name="Text 3"/>
          <p:cNvSpPr txBox="1"/>
          <p:nvPr/>
        </p:nvSpPr>
        <p:spPr>
          <a:xfrm>
            <a:off x="1691640" y="1463040"/>
            <a:ext cx="2606040" cy="365760"/>
          </a:xfrm>
          <a:prstGeom prst="rect">
            <a:avLst/>
          </a:prstGeom>
          <a:noFill/>
          <a:ln/>
        </p:spPr>
        <p:txBody>
          <a:bodyPr wrap="square" lIns="0" tIns="0" rIns="0" bIns="0" rtlCol="0" anchor="t"/>
          <a:lstStyle/>
          <a:p>
            <a:pPr indent="0" marL="0">
              <a:buNone/>
            </a:pPr>
            <a:r>
              <a:rPr lang="en-US" sz="1800" b="1" dirty="0">
                <a:solidFill>
                  <a:schemeClr val="tx2"/>
                </a:solidFill>
              </a:rPr>
              <a:t>Only our documents</a:t>
            </a:r>
            <a:endParaRPr lang="en-US" sz="1800" dirty="0"/>
          </a:p>
        </p:txBody>
      </p:sp>
      <p:sp>
        <p:nvSpPr>
          <p:cNvPr id="7" name="Text 4"/>
          <p:cNvSpPr txBox="1"/>
          <p:nvPr/>
        </p:nvSpPr>
        <p:spPr>
          <a:xfrm>
            <a:off x="1691640" y="1847088"/>
            <a:ext cx="2606040" cy="731520"/>
          </a:xfrm>
          <a:prstGeom prst="rect">
            <a:avLst/>
          </a:prstGeom>
          <a:noFill/>
          <a:ln/>
        </p:spPr>
        <p:txBody>
          <a:bodyPr wrap="square" lIns="0" tIns="0" rIns="0" bIns="0" rtlCol="0" anchor="t"/>
          <a:lstStyle/>
          <a:p>
            <a:pPr indent="0" marL="0">
              <a:buNone/>
            </a:pPr>
            <a:r>
              <a:rPr lang="en-US" sz="1300" dirty="0">
                <a:solidFill>
                  <a:schemeClr val="accent4"/>
                </a:solidFill>
              </a:rPr>
              <a:t>Answers come only from the 235 ePolicies files; no internet search</a:t>
            </a:r>
            <a:endParaRPr lang="en-US" sz="1300" dirty="0"/>
          </a:p>
        </p:txBody>
      </p:sp>
      <p:sp>
        <p:nvSpPr>
          <p:cNvPr id="8" name="goal-card-1"/>
          <p:cNvSpPr/>
          <p:nvPr/>
        </p:nvSpPr>
        <p:spPr>
          <a:xfrm>
            <a:off x="4663440" y="1188720"/>
            <a:ext cx="4023360" cy="1508760"/>
          </a:xfrm>
          <a:prstGeom prst="roundRect">
            <a:avLst>
              <a:gd name="adj" fmla="val 4848"/>
            </a:avLst>
          </a:prstGeom>
          <a:solidFill>
            <a:schemeClr val="bg2"/>
          </a:solidFill>
          <a:ln w="12700">
            <a:solidFill>
              <a:schemeClr val="bg2"/>
            </a:solidFill>
            <a:prstDash val="solid"/>
          </a:ln>
        </p:spPr>
      </p:sp>
      <p:sp>
        <p:nvSpPr>
          <p:cNvPr id="9" name="goal-1-circle"/>
          <p:cNvSpPr/>
          <p:nvPr/>
        </p:nvSpPr>
        <p:spPr>
          <a:xfrm>
            <a:off x="4937760" y="1508760"/>
            <a:ext cx="731520" cy="731520"/>
          </a:xfrm>
          <a:prstGeom prst="ellipse">
            <a:avLst/>
          </a:prstGeom>
          <a:solidFill>
            <a:schemeClr val="accent1"/>
          </a:solidFill>
          <a:ln w="12700">
            <a:solidFill>
              <a:schemeClr val="accent1"/>
            </a:solidFill>
            <a:prstDash val="solid"/>
          </a:ln>
        </p:spPr>
      </p:sp>
      <p:pic>
        <p:nvPicPr>
          <p:cNvPr id="10" name="goal-1-icon" descr="preencoded.png">    </p:cNvPr>
          <p:cNvPicPr>
            <a:picLocks noChangeAspect="1"/>
          </p:cNvPicPr>
          <p:nvPr/>
        </p:nvPicPr>
        <p:blipFill>
          <a:blip r:embed="rId2"/>
          <a:stretch>
            <a:fillRect/>
          </a:stretch>
        </p:blipFill>
        <p:spPr>
          <a:xfrm>
            <a:off x="5120640" y="1691640"/>
            <a:ext cx="365760" cy="365760"/>
          </a:xfrm>
          <a:prstGeom prst="rect">
            <a:avLst/>
          </a:prstGeom>
        </p:spPr>
      </p:pic>
      <p:sp>
        <p:nvSpPr>
          <p:cNvPr id="11" name="Text 7"/>
          <p:cNvSpPr txBox="1"/>
          <p:nvPr/>
        </p:nvSpPr>
        <p:spPr>
          <a:xfrm>
            <a:off x="5897880" y="1463040"/>
            <a:ext cx="2606040" cy="365760"/>
          </a:xfrm>
          <a:prstGeom prst="rect">
            <a:avLst/>
          </a:prstGeom>
          <a:noFill/>
          <a:ln/>
        </p:spPr>
        <p:txBody>
          <a:bodyPr wrap="square" lIns="0" tIns="0" rIns="0" bIns="0" rtlCol="0" anchor="t"/>
          <a:lstStyle/>
          <a:p>
            <a:pPr indent="0" marL="0">
              <a:buNone/>
            </a:pPr>
            <a:r>
              <a:rPr lang="en-US" sz="1800" b="1" dirty="0">
                <a:solidFill>
                  <a:schemeClr val="tx2"/>
                </a:solidFill>
              </a:rPr>
              <a:t>Always show the source</a:t>
            </a:r>
            <a:endParaRPr lang="en-US" sz="1800" dirty="0"/>
          </a:p>
        </p:txBody>
      </p:sp>
      <p:sp>
        <p:nvSpPr>
          <p:cNvPr id="12" name="Text 8"/>
          <p:cNvSpPr txBox="1"/>
          <p:nvPr/>
        </p:nvSpPr>
        <p:spPr>
          <a:xfrm>
            <a:off x="5897880" y="1847088"/>
            <a:ext cx="2606040" cy="731520"/>
          </a:xfrm>
          <a:prstGeom prst="rect">
            <a:avLst/>
          </a:prstGeom>
          <a:noFill/>
          <a:ln/>
        </p:spPr>
        <p:txBody>
          <a:bodyPr wrap="square" lIns="0" tIns="0" rIns="0" bIns="0" rtlCol="0" anchor="t"/>
          <a:lstStyle/>
          <a:p>
            <a:pPr indent="0" marL="0">
              <a:buNone/>
            </a:pPr>
            <a:r>
              <a:rPr lang="en-US" sz="1300" dirty="0">
                <a:solidFill>
                  <a:schemeClr val="accent4"/>
                </a:solidFill>
              </a:rPr>
              <a:t>Document, section and the exact passage behind every sentence</a:t>
            </a:r>
            <a:endParaRPr lang="en-US" sz="1300" dirty="0"/>
          </a:p>
        </p:txBody>
      </p:sp>
      <p:sp>
        <p:nvSpPr>
          <p:cNvPr id="13" name="goal-card-2"/>
          <p:cNvSpPr/>
          <p:nvPr/>
        </p:nvSpPr>
        <p:spPr>
          <a:xfrm>
            <a:off x="457200" y="2880360"/>
            <a:ext cx="4023360" cy="1508760"/>
          </a:xfrm>
          <a:prstGeom prst="roundRect">
            <a:avLst>
              <a:gd name="adj" fmla="val 4848"/>
            </a:avLst>
          </a:prstGeom>
          <a:solidFill>
            <a:schemeClr val="bg2"/>
          </a:solidFill>
          <a:ln w="12700">
            <a:solidFill>
              <a:schemeClr val="bg2"/>
            </a:solidFill>
            <a:prstDash val="solid"/>
          </a:ln>
        </p:spPr>
      </p:sp>
      <p:sp>
        <p:nvSpPr>
          <p:cNvPr id="14" name="goal-2-circle"/>
          <p:cNvSpPr/>
          <p:nvPr/>
        </p:nvSpPr>
        <p:spPr>
          <a:xfrm>
            <a:off x="731520" y="3200400"/>
            <a:ext cx="731520" cy="731520"/>
          </a:xfrm>
          <a:prstGeom prst="ellipse">
            <a:avLst/>
          </a:prstGeom>
          <a:solidFill>
            <a:schemeClr val="accent1"/>
          </a:solidFill>
          <a:ln w="12700">
            <a:solidFill>
              <a:schemeClr val="accent1"/>
            </a:solidFill>
            <a:prstDash val="solid"/>
          </a:ln>
        </p:spPr>
      </p:sp>
      <p:pic>
        <p:nvPicPr>
          <p:cNvPr id="15" name="goal-2-icon" descr="preencoded.png">    </p:cNvPr>
          <p:cNvPicPr>
            <a:picLocks noChangeAspect="1"/>
          </p:cNvPicPr>
          <p:nvPr/>
        </p:nvPicPr>
        <p:blipFill>
          <a:blip r:embed="rId3"/>
          <a:stretch>
            <a:fillRect/>
          </a:stretch>
        </p:blipFill>
        <p:spPr>
          <a:xfrm>
            <a:off x="914400" y="3383280"/>
            <a:ext cx="365760" cy="365760"/>
          </a:xfrm>
          <a:prstGeom prst="rect">
            <a:avLst/>
          </a:prstGeom>
        </p:spPr>
      </p:pic>
      <p:sp>
        <p:nvSpPr>
          <p:cNvPr id="16" name="Text 11"/>
          <p:cNvSpPr txBox="1"/>
          <p:nvPr/>
        </p:nvSpPr>
        <p:spPr>
          <a:xfrm>
            <a:off x="1691640" y="3154680"/>
            <a:ext cx="2606040" cy="365760"/>
          </a:xfrm>
          <a:prstGeom prst="rect">
            <a:avLst/>
          </a:prstGeom>
          <a:noFill/>
          <a:ln/>
        </p:spPr>
        <p:txBody>
          <a:bodyPr wrap="square" lIns="0" tIns="0" rIns="0" bIns="0" rtlCol="0" anchor="t"/>
          <a:lstStyle/>
          <a:p>
            <a:pPr indent="0" marL="0">
              <a:buNone/>
            </a:pPr>
            <a:r>
              <a:rPr lang="en-US" sz="1800" b="1" dirty="0">
                <a:solidFill>
                  <a:schemeClr val="tx2"/>
                </a:solidFill>
              </a:rPr>
              <a:t>Say “not found”</a:t>
            </a:r>
            <a:endParaRPr lang="en-US" sz="1800" dirty="0"/>
          </a:p>
        </p:txBody>
      </p:sp>
      <p:sp>
        <p:nvSpPr>
          <p:cNvPr id="17" name="Text 12"/>
          <p:cNvSpPr txBox="1"/>
          <p:nvPr/>
        </p:nvSpPr>
        <p:spPr>
          <a:xfrm>
            <a:off x="1691640" y="3538728"/>
            <a:ext cx="2606040" cy="731520"/>
          </a:xfrm>
          <a:prstGeom prst="rect">
            <a:avLst/>
          </a:prstGeom>
          <a:noFill/>
          <a:ln/>
        </p:spPr>
        <p:txBody>
          <a:bodyPr wrap="square" lIns="0" tIns="0" rIns="0" bIns="0" rtlCol="0" anchor="t"/>
          <a:lstStyle/>
          <a:p>
            <a:pPr indent="0" marL="0">
              <a:buNone/>
            </a:pPr>
            <a:r>
              <a:rPr lang="en-US" sz="1300" dirty="0">
                <a:solidFill>
                  <a:schemeClr val="accent4"/>
                </a:solidFill>
              </a:rPr>
              <a:t>If the files do not cover a question, say so instead of guessing</a:t>
            </a:r>
            <a:endParaRPr lang="en-US" sz="1300" dirty="0"/>
          </a:p>
        </p:txBody>
      </p:sp>
      <p:sp>
        <p:nvSpPr>
          <p:cNvPr id="18" name="goal-card-3"/>
          <p:cNvSpPr/>
          <p:nvPr/>
        </p:nvSpPr>
        <p:spPr>
          <a:xfrm>
            <a:off x="4663440" y="2880360"/>
            <a:ext cx="4023360" cy="1508760"/>
          </a:xfrm>
          <a:prstGeom prst="roundRect">
            <a:avLst>
              <a:gd name="adj" fmla="val 4848"/>
            </a:avLst>
          </a:prstGeom>
          <a:solidFill>
            <a:schemeClr val="bg2"/>
          </a:solidFill>
          <a:ln w="12700">
            <a:solidFill>
              <a:schemeClr val="bg2"/>
            </a:solidFill>
            <a:prstDash val="solid"/>
          </a:ln>
        </p:spPr>
      </p:sp>
      <p:sp>
        <p:nvSpPr>
          <p:cNvPr id="19" name="goal-3-circle"/>
          <p:cNvSpPr/>
          <p:nvPr/>
        </p:nvSpPr>
        <p:spPr>
          <a:xfrm>
            <a:off x="4937760" y="3200400"/>
            <a:ext cx="731520" cy="731520"/>
          </a:xfrm>
          <a:prstGeom prst="ellipse">
            <a:avLst/>
          </a:prstGeom>
          <a:solidFill>
            <a:schemeClr val="accent1"/>
          </a:solidFill>
          <a:ln w="12700">
            <a:solidFill>
              <a:schemeClr val="accent1"/>
            </a:solidFill>
            <a:prstDash val="solid"/>
          </a:ln>
        </p:spPr>
      </p:sp>
      <p:pic>
        <p:nvPicPr>
          <p:cNvPr id="20" name="goal-3-icon" descr="preencoded.png">    </p:cNvPr>
          <p:cNvPicPr>
            <a:picLocks noChangeAspect="1"/>
          </p:cNvPicPr>
          <p:nvPr/>
        </p:nvPicPr>
        <p:blipFill>
          <a:blip r:embed="rId4"/>
          <a:stretch>
            <a:fillRect/>
          </a:stretch>
        </p:blipFill>
        <p:spPr>
          <a:xfrm>
            <a:off x="5120640" y="3383280"/>
            <a:ext cx="365760" cy="365760"/>
          </a:xfrm>
          <a:prstGeom prst="rect">
            <a:avLst/>
          </a:prstGeom>
        </p:spPr>
      </p:pic>
      <p:sp>
        <p:nvSpPr>
          <p:cNvPr id="21" name="Text 15"/>
          <p:cNvSpPr txBox="1"/>
          <p:nvPr/>
        </p:nvSpPr>
        <p:spPr>
          <a:xfrm>
            <a:off x="5897880" y="3154680"/>
            <a:ext cx="2606040" cy="365760"/>
          </a:xfrm>
          <a:prstGeom prst="rect">
            <a:avLst/>
          </a:prstGeom>
          <a:noFill/>
          <a:ln/>
        </p:spPr>
        <p:txBody>
          <a:bodyPr wrap="square" lIns="0" tIns="0" rIns="0" bIns="0" rtlCol="0" anchor="t"/>
          <a:lstStyle/>
          <a:p>
            <a:pPr indent="0" marL="0">
              <a:buNone/>
            </a:pPr>
            <a:r>
              <a:rPr lang="en-US" sz="1800" b="1" dirty="0">
                <a:solidFill>
                  <a:schemeClr val="tx2"/>
                </a:solidFill>
              </a:rPr>
              <a:t>Easy to refresh</a:t>
            </a:r>
            <a:endParaRPr lang="en-US" sz="1800" dirty="0"/>
          </a:p>
        </p:txBody>
      </p:sp>
      <p:sp>
        <p:nvSpPr>
          <p:cNvPr id="22" name="Text 16"/>
          <p:cNvSpPr txBox="1"/>
          <p:nvPr/>
        </p:nvSpPr>
        <p:spPr>
          <a:xfrm>
            <a:off x="5897880" y="3538728"/>
            <a:ext cx="2606040" cy="731520"/>
          </a:xfrm>
          <a:prstGeom prst="rect">
            <a:avLst/>
          </a:prstGeom>
          <a:noFill/>
          <a:ln/>
        </p:spPr>
        <p:txBody>
          <a:bodyPr wrap="square" lIns="0" tIns="0" rIns="0" bIns="0" rtlCol="0" anchor="t"/>
          <a:lstStyle/>
          <a:p>
            <a:pPr indent="0" marL="0">
              <a:buNone/>
            </a:pPr>
            <a:r>
              <a:rPr lang="en-US" sz="1300" dirty="0">
                <a:solidFill>
                  <a:schemeClr val="accent4"/>
                </a:solidFill>
              </a:rPr>
              <a:t>Re-run one command when the policy files change; only changes are processed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How it works</a:t>
            </a:r>
            <a:endParaRPr lang="en-US" sz="3600" dirty="0"/>
          </a:p>
        </p:txBody>
      </p:sp>
      <p:sp>
        <p:nvSpPr>
          <p:cNvPr id="3" name="step-circle-0"/>
          <p:cNvSpPr/>
          <p:nvPr/>
        </p:nvSpPr>
        <p:spPr>
          <a:xfrm>
            <a:off x="1005840" y="1325880"/>
            <a:ext cx="731520" cy="731520"/>
          </a:xfrm>
          <a:prstGeom prst="ellipse">
            <a:avLst/>
          </a:prstGeom>
          <a:solidFill>
            <a:schemeClr val="accent1"/>
          </a:solidFill>
          <a:ln w="12700">
            <a:solidFill>
              <a:schemeClr val="accent1"/>
            </a:solidFill>
            <a:prstDash val="solid"/>
          </a:ln>
        </p:spPr>
      </p:sp>
      <p:sp>
        <p:nvSpPr>
          <p:cNvPr id="4" name="Text 2"/>
          <p:cNvSpPr txBox="1"/>
          <p:nvPr/>
        </p:nvSpPr>
        <p:spPr>
          <a:xfrm>
            <a:off x="1005840" y="132588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1</a:t>
            </a:r>
            <a:endParaRPr lang="en-US" sz="2800" dirty="0"/>
          </a:p>
        </p:txBody>
      </p:sp>
      <p:pic>
        <p:nvPicPr>
          <p:cNvPr id="5" name="step-arrow-0" descr="preencoded.png">    </p:cNvPr>
          <p:cNvPicPr>
            <a:picLocks noChangeAspect="1"/>
          </p:cNvPicPr>
          <p:nvPr/>
        </p:nvPicPr>
        <p:blipFill>
          <a:blip r:embed="rId1"/>
          <a:stretch>
            <a:fillRect/>
          </a:stretch>
        </p:blipFill>
        <p:spPr>
          <a:xfrm>
            <a:off x="2194560" y="1554480"/>
            <a:ext cx="274320" cy="274320"/>
          </a:xfrm>
          <a:prstGeom prst="rect">
            <a:avLst/>
          </a:prstGeom>
        </p:spPr>
      </p:pic>
      <p:sp>
        <p:nvSpPr>
          <p:cNvPr id="6" name="Text 3"/>
          <p:cNvSpPr txBox="1"/>
          <p:nvPr/>
        </p:nvSpPr>
        <p:spPr>
          <a:xfrm>
            <a:off x="457200" y="2286000"/>
            <a:ext cx="1828800" cy="594360"/>
          </a:xfrm>
          <a:prstGeom prst="rect">
            <a:avLst/>
          </a:prstGeom>
          <a:noFill/>
          <a:ln/>
        </p:spPr>
        <p:txBody>
          <a:bodyPr wrap="square" lIns="0" tIns="0" rIns="0" bIns="0" rtlCol="0" anchor="t"/>
          <a:lstStyle/>
          <a:p>
            <a:pPr algn="ctr" indent="0" marL="0">
              <a:buNone/>
            </a:pPr>
            <a:r>
              <a:rPr lang="en-US" sz="1600" b="1" dirty="0">
                <a:solidFill>
                  <a:schemeClr val="tx2"/>
                </a:solidFill>
              </a:rPr>
              <a:t>Read and split</a:t>
            </a:r>
            <a:endParaRPr lang="en-US" sz="1600" dirty="0"/>
          </a:p>
        </p:txBody>
      </p:sp>
      <p:sp>
        <p:nvSpPr>
          <p:cNvPr id="7" name="Text 4"/>
          <p:cNvSpPr txBox="1"/>
          <p:nvPr/>
        </p:nvSpPr>
        <p:spPr>
          <a:xfrm>
            <a:off x="457200" y="2926080"/>
            <a:ext cx="1828800" cy="1280160"/>
          </a:xfrm>
          <a:prstGeom prst="rect">
            <a:avLst/>
          </a:prstGeom>
          <a:noFill/>
          <a:ln/>
        </p:spPr>
        <p:txBody>
          <a:bodyPr wrap="square" lIns="0" tIns="0" rIns="0" bIns="0" rtlCol="0" anchor="t"/>
          <a:lstStyle/>
          <a:p>
            <a:pPr algn="ctr" indent="0" marL="0">
              <a:buNone/>
            </a:pPr>
            <a:r>
              <a:rPr lang="en-US" sz="1300" dirty="0">
                <a:solidFill>
                  <a:schemeClr val="accent4"/>
                </a:solidFill>
              </a:rPr>
              <a:t>Each file is cut into sections at its headings; tables stay together</a:t>
            </a:r>
            <a:endParaRPr lang="en-US" sz="1300" dirty="0"/>
          </a:p>
        </p:txBody>
      </p:sp>
      <p:sp>
        <p:nvSpPr>
          <p:cNvPr id="8" name="step-circle-1"/>
          <p:cNvSpPr/>
          <p:nvPr/>
        </p:nvSpPr>
        <p:spPr>
          <a:xfrm>
            <a:off x="3108960" y="1325880"/>
            <a:ext cx="731520" cy="731520"/>
          </a:xfrm>
          <a:prstGeom prst="ellipse">
            <a:avLst/>
          </a:prstGeom>
          <a:solidFill>
            <a:schemeClr val="accent1"/>
          </a:solidFill>
          <a:ln w="12700">
            <a:solidFill>
              <a:schemeClr val="accent1"/>
            </a:solidFill>
            <a:prstDash val="solid"/>
          </a:ln>
        </p:spPr>
      </p:sp>
      <p:sp>
        <p:nvSpPr>
          <p:cNvPr id="9" name="Text 6"/>
          <p:cNvSpPr txBox="1"/>
          <p:nvPr/>
        </p:nvSpPr>
        <p:spPr>
          <a:xfrm>
            <a:off x="3108960" y="132588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2</a:t>
            </a:r>
            <a:endParaRPr lang="en-US" sz="2800" dirty="0"/>
          </a:p>
        </p:txBody>
      </p:sp>
      <p:pic>
        <p:nvPicPr>
          <p:cNvPr id="10" name="step-arrow-1" descr="preencoded.png">    </p:cNvPr>
          <p:cNvPicPr>
            <a:picLocks noChangeAspect="1"/>
          </p:cNvPicPr>
          <p:nvPr/>
        </p:nvPicPr>
        <p:blipFill>
          <a:blip r:embed="rId2"/>
          <a:stretch>
            <a:fillRect/>
          </a:stretch>
        </p:blipFill>
        <p:spPr>
          <a:xfrm>
            <a:off x="4297680" y="1554480"/>
            <a:ext cx="274320" cy="274320"/>
          </a:xfrm>
          <a:prstGeom prst="rect">
            <a:avLst/>
          </a:prstGeom>
        </p:spPr>
      </p:pic>
      <p:sp>
        <p:nvSpPr>
          <p:cNvPr id="11" name="Text 7"/>
          <p:cNvSpPr txBox="1"/>
          <p:nvPr/>
        </p:nvSpPr>
        <p:spPr>
          <a:xfrm>
            <a:off x="2560320" y="2286000"/>
            <a:ext cx="1828800" cy="594360"/>
          </a:xfrm>
          <a:prstGeom prst="rect">
            <a:avLst/>
          </a:prstGeom>
          <a:noFill/>
          <a:ln/>
        </p:spPr>
        <p:txBody>
          <a:bodyPr wrap="square" lIns="0" tIns="0" rIns="0" bIns="0" rtlCol="0" anchor="t"/>
          <a:lstStyle/>
          <a:p>
            <a:pPr algn="ctr" indent="0" marL="0">
              <a:buNone/>
            </a:pPr>
            <a:r>
              <a:rPr lang="en-US" sz="1600" b="1" dirty="0">
                <a:solidFill>
                  <a:schemeClr val="tx2"/>
                </a:solidFill>
              </a:rPr>
              <a:t>Turn text into numbers</a:t>
            </a:r>
            <a:endParaRPr lang="en-US" sz="1600" dirty="0"/>
          </a:p>
        </p:txBody>
      </p:sp>
      <p:sp>
        <p:nvSpPr>
          <p:cNvPr id="12" name="Text 8"/>
          <p:cNvSpPr txBox="1"/>
          <p:nvPr/>
        </p:nvSpPr>
        <p:spPr>
          <a:xfrm>
            <a:off x="2560320" y="2926080"/>
            <a:ext cx="1828800" cy="1280160"/>
          </a:xfrm>
          <a:prstGeom prst="rect">
            <a:avLst/>
          </a:prstGeom>
          <a:noFill/>
          <a:ln/>
        </p:spPr>
        <p:txBody>
          <a:bodyPr wrap="square" lIns="0" tIns="0" rIns="0" bIns="0" rtlCol="0" anchor="t"/>
          <a:lstStyle/>
          <a:p>
            <a:pPr algn="ctr" indent="0" marL="0">
              <a:buNone/>
            </a:pPr>
            <a:r>
              <a:rPr lang="en-US" sz="1300" dirty="0">
                <a:solidFill>
                  <a:schemeClr val="accent4"/>
                </a:solidFill>
              </a:rPr>
              <a:t>Gemini embedding model gives each section 768 numbers that capture its meaning</a:t>
            </a:r>
            <a:endParaRPr lang="en-US" sz="1300" dirty="0"/>
          </a:p>
        </p:txBody>
      </p:sp>
      <p:sp>
        <p:nvSpPr>
          <p:cNvPr id="13" name="step-circle-2"/>
          <p:cNvSpPr/>
          <p:nvPr/>
        </p:nvSpPr>
        <p:spPr>
          <a:xfrm>
            <a:off x="5212080" y="1325880"/>
            <a:ext cx="731520" cy="731520"/>
          </a:xfrm>
          <a:prstGeom prst="ellipse">
            <a:avLst/>
          </a:prstGeom>
          <a:solidFill>
            <a:schemeClr val="accent1"/>
          </a:solidFill>
          <a:ln w="12700">
            <a:solidFill>
              <a:schemeClr val="accent1"/>
            </a:solidFill>
            <a:prstDash val="solid"/>
          </a:ln>
        </p:spPr>
      </p:sp>
      <p:sp>
        <p:nvSpPr>
          <p:cNvPr id="14" name="Text 10"/>
          <p:cNvSpPr txBox="1"/>
          <p:nvPr/>
        </p:nvSpPr>
        <p:spPr>
          <a:xfrm>
            <a:off x="5212080" y="132588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3</a:t>
            </a:r>
            <a:endParaRPr lang="en-US" sz="2800" dirty="0"/>
          </a:p>
        </p:txBody>
      </p:sp>
      <p:pic>
        <p:nvPicPr>
          <p:cNvPr id="15" name="step-arrow-2" descr="preencoded.png">    </p:cNvPr>
          <p:cNvPicPr>
            <a:picLocks noChangeAspect="1"/>
          </p:cNvPicPr>
          <p:nvPr/>
        </p:nvPicPr>
        <p:blipFill>
          <a:blip r:embed="rId3"/>
          <a:stretch>
            <a:fillRect/>
          </a:stretch>
        </p:blipFill>
        <p:spPr>
          <a:xfrm>
            <a:off x="6400800" y="1554480"/>
            <a:ext cx="274320" cy="274320"/>
          </a:xfrm>
          <a:prstGeom prst="rect">
            <a:avLst/>
          </a:prstGeom>
        </p:spPr>
      </p:pic>
      <p:sp>
        <p:nvSpPr>
          <p:cNvPr id="16" name="Text 11"/>
          <p:cNvSpPr txBox="1"/>
          <p:nvPr/>
        </p:nvSpPr>
        <p:spPr>
          <a:xfrm>
            <a:off x="4663440" y="2286000"/>
            <a:ext cx="1828800" cy="594360"/>
          </a:xfrm>
          <a:prstGeom prst="rect">
            <a:avLst/>
          </a:prstGeom>
          <a:noFill/>
          <a:ln/>
        </p:spPr>
        <p:txBody>
          <a:bodyPr wrap="square" lIns="0" tIns="0" rIns="0" bIns="0" rtlCol="0" anchor="t"/>
          <a:lstStyle/>
          <a:p>
            <a:pPr algn="ctr" indent="0" marL="0">
              <a:buNone/>
            </a:pPr>
            <a:r>
              <a:rPr lang="en-US" sz="1600" b="1" dirty="0">
                <a:solidFill>
                  <a:schemeClr val="tx2"/>
                </a:solidFill>
              </a:rPr>
              <a:t>Search two ways</a:t>
            </a:r>
            <a:endParaRPr lang="en-US" sz="1600" dirty="0"/>
          </a:p>
        </p:txBody>
      </p:sp>
      <p:sp>
        <p:nvSpPr>
          <p:cNvPr id="17" name="Text 12"/>
          <p:cNvSpPr txBox="1"/>
          <p:nvPr/>
        </p:nvSpPr>
        <p:spPr>
          <a:xfrm>
            <a:off x="4663440" y="2926080"/>
            <a:ext cx="1828800" cy="1280160"/>
          </a:xfrm>
          <a:prstGeom prst="rect">
            <a:avLst/>
          </a:prstGeom>
          <a:noFill/>
          <a:ln/>
        </p:spPr>
        <p:txBody>
          <a:bodyPr wrap="square" lIns="0" tIns="0" rIns="0" bIns="0" rtlCol="0" anchor="t"/>
          <a:lstStyle/>
          <a:p>
            <a:pPr algn="ctr" indent="0" marL="0">
              <a:buNone/>
            </a:pPr>
            <a:r>
              <a:rPr lang="en-US" sz="1300" dirty="0">
                <a:solidFill>
                  <a:schemeClr val="accent4"/>
                </a:solidFill>
              </a:rPr>
              <a:t>Find sections by meaning and by exact words or codes, then merge the rankings</a:t>
            </a:r>
            <a:endParaRPr lang="en-US" sz="1300" dirty="0"/>
          </a:p>
        </p:txBody>
      </p:sp>
      <p:sp>
        <p:nvSpPr>
          <p:cNvPr id="18" name="step-circle-3"/>
          <p:cNvSpPr/>
          <p:nvPr/>
        </p:nvSpPr>
        <p:spPr>
          <a:xfrm>
            <a:off x="7315200" y="1325880"/>
            <a:ext cx="731520" cy="731520"/>
          </a:xfrm>
          <a:prstGeom prst="ellipse">
            <a:avLst/>
          </a:prstGeom>
          <a:solidFill>
            <a:schemeClr val="accent3"/>
          </a:solidFill>
          <a:ln w="12700">
            <a:solidFill>
              <a:schemeClr val="accent3"/>
            </a:solidFill>
            <a:prstDash val="solid"/>
          </a:ln>
        </p:spPr>
      </p:sp>
      <p:sp>
        <p:nvSpPr>
          <p:cNvPr id="19" name="Text 14"/>
          <p:cNvSpPr txBox="1"/>
          <p:nvPr/>
        </p:nvSpPr>
        <p:spPr>
          <a:xfrm>
            <a:off x="7315200" y="132588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4</a:t>
            </a:r>
            <a:endParaRPr lang="en-US" sz="2800" dirty="0"/>
          </a:p>
        </p:txBody>
      </p:sp>
      <p:sp>
        <p:nvSpPr>
          <p:cNvPr id="20" name="Text 15"/>
          <p:cNvSpPr txBox="1"/>
          <p:nvPr/>
        </p:nvSpPr>
        <p:spPr>
          <a:xfrm>
            <a:off x="6766560" y="2286000"/>
            <a:ext cx="1828800" cy="594360"/>
          </a:xfrm>
          <a:prstGeom prst="rect">
            <a:avLst/>
          </a:prstGeom>
          <a:noFill/>
          <a:ln/>
        </p:spPr>
        <p:txBody>
          <a:bodyPr wrap="square" lIns="0" tIns="0" rIns="0" bIns="0" rtlCol="0" anchor="t"/>
          <a:lstStyle/>
          <a:p>
            <a:pPr algn="ctr" indent="0" marL="0">
              <a:buNone/>
            </a:pPr>
            <a:r>
              <a:rPr lang="en-US" sz="1600" b="1" dirty="0">
                <a:solidFill>
                  <a:schemeClr val="tx2"/>
                </a:solidFill>
              </a:rPr>
              <a:t>Check, answer, verify</a:t>
            </a:r>
            <a:endParaRPr lang="en-US" sz="1600" dirty="0"/>
          </a:p>
        </p:txBody>
      </p:sp>
      <p:sp>
        <p:nvSpPr>
          <p:cNvPr id="21" name="Text 16"/>
          <p:cNvSpPr txBox="1"/>
          <p:nvPr/>
        </p:nvSpPr>
        <p:spPr>
          <a:xfrm>
            <a:off x="6766560" y="2926080"/>
            <a:ext cx="1828800" cy="1280160"/>
          </a:xfrm>
          <a:prstGeom prst="rect">
            <a:avLst/>
          </a:prstGeom>
          <a:noFill/>
          <a:ln/>
        </p:spPr>
        <p:txBody>
          <a:bodyPr wrap="square" lIns="0" tIns="0" rIns="0" bIns="0" rtlCol="0" anchor="t"/>
          <a:lstStyle/>
          <a:p>
            <a:pPr algn="ctr" indent="0" marL="0">
              <a:buNone/>
            </a:pPr>
            <a:r>
              <a:rPr lang="en-US" sz="1300" dirty="0">
                <a:solidFill>
                  <a:schemeClr val="accent4"/>
                </a:solidFill>
              </a:rPr>
              <a:t>Search again if evidence is missing, write a cited answer, check every citation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Architecture</a:t>
            </a:r>
            <a:endParaRPr lang="en-US" sz="3600" dirty="0"/>
          </a:p>
        </p:txBody>
      </p:sp>
      <p:sp>
        <p:nvSpPr>
          <p:cNvPr id="3" name="Text 1"/>
          <p:cNvSpPr txBox="1"/>
          <p:nvPr/>
        </p:nvSpPr>
        <p:spPr>
          <a:xfrm>
            <a:off x="457200" y="1097280"/>
            <a:ext cx="8229600" cy="274320"/>
          </a:xfrm>
          <a:prstGeom prst="rect">
            <a:avLst/>
          </a:prstGeom>
          <a:noFill/>
          <a:ln/>
        </p:spPr>
        <p:txBody>
          <a:bodyPr wrap="square" lIns="0" tIns="0" rIns="0" bIns="0" rtlCol="0" anchor="t"/>
          <a:lstStyle/>
          <a:p>
            <a:pPr indent="0" marL="0">
              <a:buNone/>
            </a:pPr>
            <a:r>
              <a:rPr lang="en-US" sz="1200" b="1" dirty="0">
                <a:solidFill>
                  <a:schemeClr val="accent1"/>
                </a:solidFill>
              </a:rPr>
              <a:t>INDEXING  ·  once, then when files change</a:t>
            </a:r>
            <a:endParaRPr lang="en-US" sz="1200" dirty="0"/>
          </a:p>
        </p:txBody>
      </p:sp>
      <p:sp>
        <p:nvSpPr>
          <p:cNvPr id="4" name="index-box-0"/>
          <p:cNvSpPr/>
          <p:nvPr/>
        </p:nvSpPr>
        <p:spPr>
          <a:xfrm>
            <a:off x="457200" y="1417320"/>
            <a:ext cx="1828800" cy="685800"/>
          </a:xfrm>
          <a:prstGeom prst="roundRect">
            <a:avLst>
              <a:gd name="adj" fmla="val 8000"/>
            </a:avLst>
          </a:prstGeom>
          <a:solidFill>
            <a:schemeClr val="bg2"/>
          </a:solidFill>
          <a:ln w="12700">
            <a:solidFill>
              <a:schemeClr val="accent6"/>
            </a:solidFill>
            <a:prstDash val="solid"/>
          </a:ln>
        </p:spPr>
      </p:sp>
      <p:sp>
        <p:nvSpPr>
          <p:cNvPr id="5" name="Text 3"/>
          <p:cNvSpPr txBox="1"/>
          <p:nvPr/>
        </p:nvSpPr>
        <p:spPr>
          <a:xfrm>
            <a:off x="502920" y="1417320"/>
            <a:ext cx="1737360" cy="685800"/>
          </a:xfrm>
          <a:prstGeom prst="rect">
            <a:avLst/>
          </a:prstGeom>
          <a:noFill/>
          <a:ln/>
        </p:spPr>
        <p:txBody>
          <a:bodyPr wrap="square" lIns="0" tIns="0" rIns="0" bIns="0" rtlCol="0" anchor="ctr"/>
          <a:lstStyle/>
          <a:p>
            <a:pPr algn="ctr" indent="0" marL="0">
              <a:buNone/>
            </a:pPr>
            <a:r>
              <a:rPr lang="en-US" sz="1200" dirty="0">
                <a:solidFill>
                  <a:schemeClr val="tx1"/>
                </a:solidFill>
              </a:rPr>
              <a:t>235 policy .md files</a:t>
            </a:r>
            <a:endParaRPr lang="en-US" sz="1200" dirty="0"/>
          </a:p>
        </p:txBody>
      </p:sp>
      <p:sp>
        <p:nvSpPr>
          <p:cNvPr id="6" name="index-arrow-0"/>
          <p:cNvSpPr/>
          <p:nvPr/>
        </p:nvSpPr>
        <p:spPr>
          <a:xfrm>
            <a:off x="2286000" y="1760220"/>
            <a:ext cx="301752" cy="914"/>
          </a:xfrm>
          <a:prstGeom prst="line">
            <a:avLst/>
          </a:prstGeom>
          <a:noFill/>
          <a:ln w="15875">
            <a:solidFill>
              <a:schemeClr val="accent4"/>
            </a:solidFill>
            <a:prstDash val="solid"/>
            <a:tailEnd type="triangle"/>
          </a:ln>
        </p:spPr>
      </p:sp>
      <p:sp>
        <p:nvSpPr>
          <p:cNvPr id="7" name="index-box-1"/>
          <p:cNvSpPr/>
          <p:nvPr/>
        </p:nvSpPr>
        <p:spPr>
          <a:xfrm>
            <a:off x="2587752" y="1417320"/>
            <a:ext cx="1828800" cy="685800"/>
          </a:xfrm>
          <a:prstGeom prst="roundRect">
            <a:avLst>
              <a:gd name="adj" fmla="val 8000"/>
            </a:avLst>
          </a:prstGeom>
          <a:solidFill>
            <a:schemeClr val="bg2"/>
          </a:solidFill>
          <a:ln w="12700">
            <a:solidFill>
              <a:schemeClr val="accent6"/>
            </a:solidFill>
            <a:prstDash val="solid"/>
          </a:ln>
        </p:spPr>
      </p:sp>
      <p:sp>
        <p:nvSpPr>
          <p:cNvPr id="8" name="Text 6"/>
          <p:cNvSpPr txBox="1"/>
          <p:nvPr/>
        </p:nvSpPr>
        <p:spPr>
          <a:xfrm>
            <a:off x="2633472" y="1417320"/>
            <a:ext cx="1737360" cy="685800"/>
          </a:xfrm>
          <a:prstGeom prst="rect">
            <a:avLst/>
          </a:prstGeom>
          <a:noFill/>
          <a:ln/>
        </p:spPr>
        <p:txBody>
          <a:bodyPr wrap="square" lIns="0" tIns="0" rIns="0" bIns="0" rtlCol="0" anchor="ctr"/>
          <a:lstStyle/>
          <a:p>
            <a:pPr algn="ctr" indent="0" marL="0">
              <a:buNone/>
            </a:pPr>
            <a:r>
              <a:rPr lang="en-US" sz="1200" dirty="0">
                <a:solidFill>
                  <a:schemeClr val="tx1"/>
                </a:solidFill>
              </a:rPr>
              <a:t>Split by headings</a:t>
            </a:r>
            <a:endParaRPr lang="en-US" sz="1200" dirty="0"/>
          </a:p>
          <a:p>
            <a:pPr algn="ctr" indent="0" marL="0">
              <a:buNone/>
            </a:pPr>
            <a:r>
              <a:rPr lang="en-US" sz="1200" dirty="0">
                <a:solidFill>
                  <a:schemeClr val="tx1"/>
                </a:solidFill>
              </a:rPr>
              <a:t>10,503 chunks</a:t>
            </a:r>
            <a:endParaRPr lang="en-US" sz="1200" dirty="0"/>
          </a:p>
        </p:txBody>
      </p:sp>
      <p:sp>
        <p:nvSpPr>
          <p:cNvPr id="9" name="index-arrow-1"/>
          <p:cNvSpPr/>
          <p:nvPr/>
        </p:nvSpPr>
        <p:spPr>
          <a:xfrm>
            <a:off x="4416552" y="1760220"/>
            <a:ext cx="301752" cy="914"/>
          </a:xfrm>
          <a:prstGeom prst="line">
            <a:avLst/>
          </a:prstGeom>
          <a:noFill/>
          <a:ln w="15875">
            <a:solidFill>
              <a:schemeClr val="accent4"/>
            </a:solidFill>
            <a:prstDash val="solid"/>
            <a:tailEnd type="triangle"/>
          </a:ln>
        </p:spPr>
      </p:sp>
      <p:sp>
        <p:nvSpPr>
          <p:cNvPr id="10" name="index-box-2"/>
          <p:cNvSpPr/>
          <p:nvPr/>
        </p:nvSpPr>
        <p:spPr>
          <a:xfrm>
            <a:off x="4718304" y="1417320"/>
            <a:ext cx="1828800" cy="685800"/>
          </a:xfrm>
          <a:prstGeom prst="roundRect">
            <a:avLst>
              <a:gd name="adj" fmla="val 8000"/>
            </a:avLst>
          </a:prstGeom>
          <a:solidFill>
            <a:schemeClr val="bg2"/>
          </a:solidFill>
          <a:ln w="12700">
            <a:solidFill>
              <a:schemeClr val="accent6"/>
            </a:solidFill>
            <a:prstDash val="solid"/>
          </a:ln>
        </p:spPr>
      </p:sp>
      <p:sp>
        <p:nvSpPr>
          <p:cNvPr id="11" name="Text 9"/>
          <p:cNvSpPr txBox="1"/>
          <p:nvPr/>
        </p:nvSpPr>
        <p:spPr>
          <a:xfrm>
            <a:off x="4764024" y="1417320"/>
            <a:ext cx="1737360" cy="685800"/>
          </a:xfrm>
          <a:prstGeom prst="rect">
            <a:avLst/>
          </a:prstGeom>
          <a:noFill/>
          <a:ln/>
        </p:spPr>
        <p:txBody>
          <a:bodyPr wrap="square" lIns="0" tIns="0" rIns="0" bIns="0" rtlCol="0" anchor="ctr"/>
          <a:lstStyle/>
          <a:p>
            <a:pPr algn="ctr" indent="0" marL="0">
              <a:buNone/>
            </a:pPr>
            <a:r>
              <a:rPr lang="en-US" sz="1200" dirty="0">
                <a:solidFill>
                  <a:schemeClr val="tx1"/>
                </a:solidFill>
              </a:rPr>
              <a:t>gemini-embedding-001</a:t>
            </a:r>
            <a:endParaRPr lang="en-US" sz="1200" dirty="0"/>
          </a:p>
          <a:p>
            <a:pPr algn="ctr" indent="0" marL="0">
              <a:buNone/>
            </a:pPr>
            <a:r>
              <a:rPr lang="en-US" sz="1200" dirty="0">
                <a:solidFill>
                  <a:schemeClr val="tx1"/>
                </a:solidFill>
              </a:rPr>
              <a:t>768 numbers each</a:t>
            </a:r>
            <a:endParaRPr lang="en-US" sz="1200" dirty="0"/>
          </a:p>
        </p:txBody>
      </p:sp>
      <p:sp>
        <p:nvSpPr>
          <p:cNvPr id="12" name="index-arrow-2"/>
          <p:cNvSpPr/>
          <p:nvPr/>
        </p:nvSpPr>
        <p:spPr>
          <a:xfrm>
            <a:off x="6547104" y="1760220"/>
            <a:ext cx="301752" cy="914"/>
          </a:xfrm>
          <a:prstGeom prst="line">
            <a:avLst/>
          </a:prstGeom>
          <a:noFill/>
          <a:ln w="15875">
            <a:solidFill>
              <a:schemeClr val="accent4"/>
            </a:solidFill>
            <a:prstDash val="solid"/>
            <a:tailEnd type="triangle"/>
          </a:ln>
        </p:spPr>
      </p:sp>
      <p:sp>
        <p:nvSpPr>
          <p:cNvPr id="13" name="index-box-3"/>
          <p:cNvSpPr/>
          <p:nvPr/>
        </p:nvSpPr>
        <p:spPr>
          <a:xfrm>
            <a:off x="6848856" y="1417320"/>
            <a:ext cx="1828800" cy="685800"/>
          </a:xfrm>
          <a:prstGeom prst="roundRect">
            <a:avLst>
              <a:gd name="adj" fmla="val 8000"/>
            </a:avLst>
          </a:prstGeom>
          <a:solidFill>
            <a:schemeClr val="accent1"/>
          </a:solidFill>
          <a:ln w="12700">
            <a:solidFill>
              <a:schemeClr val="accent1"/>
            </a:solidFill>
            <a:prstDash val="solid"/>
          </a:ln>
        </p:spPr>
      </p:sp>
      <p:sp>
        <p:nvSpPr>
          <p:cNvPr id="14" name="Text 12"/>
          <p:cNvSpPr txBox="1"/>
          <p:nvPr/>
        </p:nvSpPr>
        <p:spPr>
          <a:xfrm>
            <a:off x="6894576" y="1417320"/>
            <a:ext cx="1737360" cy="685800"/>
          </a:xfrm>
          <a:prstGeom prst="rect">
            <a:avLst/>
          </a:prstGeom>
          <a:noFill/>
          <a:ln/>
        </p:spPr>
        <p:txBody>
          <a:bodyPr wrap="square" lIns="0" tIns="0" rIns="0" bIns="0" rtlCol="0" anchor="ctr"/>
          <a:lstStyle/>
          <a:p>
            <a:pPr algn="ctr" indent="0" marL="0">
              <a:buNone/>
            </a:pPr>
            <a:r>
              <a:rPr lang="en-US" sz="1200" b="1" dirty="0">
                <a:solidFill>
                  <a:schemeClr val="bg1"/>
                </a:solidFill>
              </a:rPr>
              <a:t>PostgreSQL 16</a:t>
            </a:r>
            <a:endParaRPr lang="en-US" sz="1200" dirty="0"/>
          </a:p>
          <a:p>
            <a:pPr algn="ctr" indent="0" marL="0">
              <a:buNone/>
            </a:pPr>
            <a:r>
              <a:rPr lang="en-US" sz="1200" b="1" dirty="0">
                <a:solidFill>
                  <a:schemeClr val="bg1"/>
                </a:solidFill>
              </a:rPr>
              <a:t>chunks + embeddings</a:t>
            </a:r>
            <a:endParaRPr lang="en-US" sz="1200" dirty="0"/>
          </a:p>
        </p:txBody>
      </p:sp>
      <p:sp>
        <p:nvSpPr>
          <p:cNvPr id="15" name="Text 13"/>
          <p:cNvSpPr txBox="1"/>
          <p:nvPr/>
        </p:nvSpPr>
        <p:spPr>
          <a:xfrm>
            <a:off x="457200" y="2514600"/>
            <a:ext cx="8229600" cy="274320"/>
          </a:xfrm>
          <a:prstGeom prst="rect">
            <a:avLst/>
          </a:prstGeom>
          <a:noFill/>
          <a:ln/>
        </p:spPr>
        <p:txBody>
          <a:bodyPr wrap="square" lIns="0" tIns="0" rIns="0" bIns="0" rtlCol="0" anchor="t"/>
          <a:lstStyle/>
          <a:p>
            <a:pPr indent="0" marL="0">
              <a:buNone/>
            </a:pPr>
            <a:r>
              <a:rPr lang="en-US" sz="1200" b="1" dirty="0">
                <a:solidFill>
                  <a:schemeClr val="accent1"/>
                </a:solidFill>
              </a:rPr>
              <a:t>ANSWERING  ·  every question</a:t>
            </a:r>
            <a:endParaRPr lang="en-US" sz="1200" dirty="0"/>
          </a:p>
        </p:txBody>
      </p:sp>
      <p:sp>
        <p:nvSpPr>
          <p:cNvPr id="16" name="answer-box-0"/>
          <p:cNvSpPr/>
          <p:nvPr/>
        </p:nvSpPr>
        <p:spPr>
          <a:xfrm>
            <a:off x="457200" y="2834640"/>
            <a:ext cx="1234440" cy="777240"/>
          </a:xfrm>
          <a:prstGeom prst="roundRect">
            <a:avLst>
              <a:gd name="adj" fmla="val 7059"/>
            </a:avLst>
          </a:prstGeom>
          <a:solidFill>
            <a:schemeClr val="bg2"/>
          </a:solidFill>
          <a:ln w="12700">
            <a:solidFill>
              <a:schemeClr val="accent6"/>
            </a:solidFill>
            <a:prstDash val="solid"/>
          </a:ln>
        </p:spPr>
      </p:sp>
      <p:sp>
        <p:nvSpPr>
          <p:cNvPr id="17" name="Text 15"/>
          <p:cNvSpPr txBox="1"/>
          <p:nvPr/>
        </p:nvSpPr>
        <p:spPr>
          <a:xfrm>
            <a:off x="502920" y="2834640"/>
            <a:ext cx="1143000" cy="777240"/>
          </a:xfrm>
          <a:prstGeom prst="rect">
            <a:avLst/>
          </a:prstGeom>
          <a:noFill/>
          <a:ln/>
        </p:spPr>
        <p:txBody>
          <a:bodyPr wrap="square" lIns="0" tIns="0" rIns="0" bIns="0" rtlCol="0" anchor="ctr"/>
          <a:lstStyle/>
          <a:p>
            <a:pPr algn="ctr" indent="0" marL="0">
              <a:buNone/>
            </a:pPr>
            <a:r>
              <a:rPr lang="en-US" sz="1200" dirty="0">
                <a:solidFill>
                  <a:schemeClr val="tx1"/>
                </a:solidFill>
              </a:rPr>
              <a:t>Question in</a:t>
            </a:r>
            <a:endParaRPr lang="en-US" sz="1200" dirty="0"/>
          </a:p>
          <a:p>
            <a:pPr algn="ctr" indent="0" marL="0">
              <a:buNone/>
            </a:pPr>
            <a:r>
              <a:rPr lang="en-US" sz="1200" dirty="0">
                <a:solidFill>
                  <a:schemeClr val="tx1"/>
                </a:solidFill>
              </a:rPr>
              <a:t>the website</a:t>
            </a:r>
            <a:endParaRPr lang="en-US" sz="1200" dirty="0"/>
          </a:p>
        </p:txBody>
      </p:sp>
      <p:sp>
        <p:nvSpPr>
          <p:cNvPr id="18" name="answer-arrow-0"/>
          <p:cNvSpPr/>
          <p:nvPr/>
        </p:nvSpPr>
        <p:spPr>
          <a:xfrm>
            <a:off x="1691640" y="3223260"/>
            <a:ext cx="164592" cy="914"/>
          </a:xfrm>
          <a:prstGeom prst="line">
            <a:avLst/>
          </a:prstGeom>
          <a:noFill/>
          <a:ln w="15875">
            <a:solidFill>
              <a:schemeClr val="accent4"/>
            </a:solidFill>
            <a:prstDash val="solid"/>
            <a:tailEnd type="triangle"/>
          </a:ln>
        </p:spPr>
      </p:sp>
      <p:sp>
        <p:nvSpPr>
          <p:cNvPr id="19" name="answer-box-1"/>
          <p:cNvSpPr/>
          <p:nvPr/>
        </p:nvSpPr>
        <p:spPr>
          <a:xfrm>
            <a:off x="1856232" y="2834640"/>
            <a:ext cx="1234440" cy="777240"/>
          </a:xfrm>
          <a:prstGeom prst="roundRect">
            <a:avLst>
              <a:gd name="adj" fmla="val 7059"/>
            </a:avLst>
          </a:prstGeom>
          <a:solidFill>
            <a:schemeClr val="bg2"/>
          </a:solidFill>
          <a:ln w="12700">
            <a:solidFill>
              <a:schemeClr val="accent6"/>
            </a:solidFill>
            <a:prstDash val="solid"/>
          </a:ln>
        </p:spPr>
      </p:sp>
      <p:sp>
        <p:nvSpPr>
          <p:cNvPr id="20" name="Text 18"/>
          <p:cNvSpPr txBox="1"/>
          <p:nvPr/>
        </p:nvSpPr>
        <p:spPr>
          <a:xfrm>
            <a:off x="1901952" y="2834640"/>
            <a:ext cx="1143000" cy="777240"/>
          </a:xfrm>
          <a:prstGeom prst="rect">
            <a:avLst/>
          </a:prstGeom>
          <a:noFill/>
          <a:ln/>
        </p:spPr>
        <p:txBody>
          <a:bodyPr wrap="square" lIns="0" tIns="0" rIns="0" bIns="0" rtlCol="0" anchor="ctr"/>
          <a:lstStyle/>
          <a:p>
            <a:pPr algn="ctr" indent="0" marL="0">
              <a:buNone/>
            </a:pPr>
            <a:r>
              <a:rPr lang="en-US" sz="1200" dirty="0">
                <a:solidFill>
                  <a:schemeClr val="tx1"/>
                </a:solidFill>
              </a:rPr>
              <a:t>Plan the</a:t>
            </a:r>
            <a:endParaRPr lang="en-US" sz="1200" dirty="0"/>
          </a:p>
          <a:p>
            <a:pPr algn="ctr" indent="0" marL="0">
              <a:buNone/>
            </a:pPr>
            <a:r>
              <a:rPr lang="en-US" sz="1200" dirty="0">
                <a:solidFill>
                  <a:schemeClr val="tx1"/>
                </a:solidFill>
              </a:rPr>
              <a:t>search</a:t>
            </a:r>
            <a:endParaRPr lang="en-US" sz="1200" dirty="0"/>
          </a:p>
        </p:txBody>
      </p:sp>
      <p:sp>
        <p:nvSpPr>
          <p:cNvPr id="21" name="answer-arrow-1"/>
          <p:cNvSpPr/>
          <p:nvPr/>
        </p:nvSpPr>
        <p:spPr>
          <a:xfrm>
            <a:off x="3090672" y="3223260"/>
            <a:ext cx="164592" cy="914"/>
          </a:xfrm>
          <a:prstGeom prst="line">
            <a:avLst/>
          </a:prstGeom>
          <a:noFill/>
          <a:ln w="15875">
            <a:solidFill>
              <a:schemeClr val="accent4"/>
            </a:solidFill>
            <a:prstDash val="solid"/>
            <a:tailEnd type="triangle"/>
          </a:ln>
        </p:spPr>
      </p:sp>
      <p:sp>
        <p:nvSpPr>
          <p:cNvPr id="22" name="answer-box-2"/>
          <p:cNvSpPr/>
          <p:nvPr/>
        </p:nvSpPr>
        <p:spPr>
          <a:xfrm>
            <a:off x="3255264" y="2834640"/>
            <a:ext cx="1234440" cy="777240"/>
          </a:xfrm>
          <a:prstGeom prst="roundRect">
            <a:avLst>
              <a:gd name="adj" fmla="val 7059"/>
            </a:avLst>
          </a:prstGeom>
          <a:solidFill>
            <a:schemeClr val="bg2"/>
          </a:solidFill>
          <a:ln w="12700">
            <a:solidFill>
              <a:schemeClr val="accent6"/>
            </a:solidFill>
            <a:prstDash val="solid"/>
          </a:ln>
        </p:spPr>
      </p:sp>
      <p:sp>
        <p:nvSpPr>
          <p:cNvPr id="23" name="Text 21"/>
          <p:cNvSpPr txBox="1"/>
          <p:nvPr/>
        </p:nvSpPr>
        <p:spPr>
          <a:xfrm>
            <a:off x="3300984" y="2834640"/>
            <a:ext cx="1143000" cy="777240"/>
          </a:xfrm>
          <a:prstGeom prst="rect">
            <a:avLst/>
          </a:prstGeom>
          <a:noFill/>
          <a:ln/>
        </p:spPr>
        <p:txBody>
          <a:bodyPr wrap="square" lIns="0" tIns="0" rIns="0" bIns="0" rtlCol="0" anchor="ctr"/>
          <a:lstStyle/>
          <a:p>
            <a:pPr algn="ctr" indent="0" marL="0">
              <a:buNone/>
            </a:pPr>
            <a:r>
              <a:rPr lang="en-US" sz="1200" dirty="0">
                <a:solidFill>
                  <a:schemeClr val="tx1"/>
                </a:solidFill>
              </a:rPr>
              <a:t>Hybrid search</a:t>
            </a:r>
            <a:endParaRPr lang="en-US" sz="1200" dirty="0"/>
          </a:p>
          <a:p>
            <a:pPr algn="ctr" indent="0" marL="0">
              <a:buNone/>
            </a:pPr>
            <a:r>
              <a:rPr lang="en-US" sz="1200" dirty="0">
                <a:solidFill>
                  <a:schemeClr val="tx1"/>
                </a:solidFill>
              </a:rPr>
              <a:t>meaning + words</a:t>
            </a:r>
            <a:endParaRPr lang="en-US" sz="1200" dirty="0"/>
          </a:p>
        </p:txBody>
      </p:sp>
      <p:sp>
        <p:nvSpPr>
          <p:cNvPr id="24" name="answer-arrow-2"/>
          <p:cNvSpPr/>
          <p:nvPr/>
        </p:nvSpPr>
        <p:spPr>
          <a:xfrm>
            <a:off x="4489704" y="3223260"/>
            <a:ext cx="164592" cy="914"/>
          </a:xfrm>
          <a:prstGeom prst="line">
            <a:avLst/>
          </a:prstGeom>
          <a:noFill/>
          <a:ln w="15875">
            <a:solidFill>
              <a:schemeClr val="accent4"/>
            </a:solidFill>
            <a:prstDash val="solid"/>
            <a:tailEnd type="triangle"/>
          </a:ln>
        </p:spPr>
      </p:sp>
      <p:sp>
        <p:nvSpPr>
          <p:cNvPr id="25" name="answer-box-3"/>
          <p:cNvSpPr/>
          <p:nvPr/>
        </p:nvSpPr>
        <p:spPr>
          <a:xfrm>
            <a:off x="4654296" y="2834640"/>
            <a:ext cx="1234440" cy="777240"/>
          </a:xfrm>
          <a:prstGeom prst="roundRect">
            <a:avLst>
              <a:gd name="adj" fmla="val 7059"/>
            </a:avLst>
          </a:prstGeom>
          <a:solidFill>
            <a:schemeClr val="bg2"/>
          </a:solidFill>
          <a:ln w="12700">
            <a:solidFill>
              <a:schemeClr val="accent6"/>
            </a:solidFill>
            <a:prstDash val="solid"/>
          </a:ln>
        </p:spPr>
      </p:sp>
      <p:sp>
        <p:nvSpPr>
          <p:cNvPr id="26" name="Text 24"/>
          <p:cNvSpPr txBox="1"/>
          <p:nvPr/>
        </p:nvSpPr>
        <p:spPr>
          <a:xfrm>
            <a:off x="4700016" y="2834640"/>
            <a:ext cx="1143000" cy="777240"/>
          </a:xfrm>
          <a:prstGeom prst="rect">
            <a:avLst/>
          </a:prstGeom>
          <a:noFill/>
          <a:ln/>
        </p:spPr>
        <p:txBody>
          <a:bodyPr wrap="square" lIns="0" tIns="0" rIns="0" bIns="0" rtlCol="0" anchor="ctr"/>
          <a:lstStyle/>
          <a:p>
            <a:pPr algn="ctr" indent="0" marL="0">
              <a:buNone/>
            </a:pPr>
            <a:r>
              <a:rPr lang="en-US" sz="1200" dirty="0">
                <a:solidFill>
                  <a:schemeClr val="tx1"/>
                </a:solidFill>
              </a:rPr>
              <a:t>Enough</a:t>
            </a:r>
            <a:endParaRPr lang="en-US" sz="1200" dirty="0"/>
          </a:p>
          <a:p>
            <a:pPr algn="ctr" indent="0" marL="0">
              <a:buNone/>
            </a:pPr>
            <a:r>
              <a:rPr lang="en-US" sz="1200" dirty="0">
                <a:solidFill>
                  <a:schemeClr val="tx1"/>
                </a:solidFill>
              </a:rPr>
              <a:t>evidence?</a:t>
            </a:r>
            <a:endParaRPr lang="en-US" sz="1200" dirty="0"/>
          </a:p>
        </p:txBody>
      </p:sp>
      <p:sp>
        <p:nvSpPr>
          <p:cNvPr id="27" name="answer-arrow-3"/>
          <p:cNvSpPr/>
          <p:nvPr/>
        </p:nvSpPr>
        <p:spPr>
          <a:xfrm>
            <a:off x="5888736" y="3223260"/>
            <a:ext cx="164592" cy="914"/>
          </a:xfrm>
          <a:prstGeom prst="line">
            <a:avLst/>
          </a:prstGeom>
          <a:noFill/>
          <a:ln w="15875">
            <a:solidFill>
              <a:schemeClr val="accent4"/>
            </a:solidFill>
            <a:prstDash val="solid"/>
            <a:tailEnd type="triangle"/>
          </a:ln>
        </p:spPr>
      </p:sp>
      <p:sp>
        <p:nvSpPr>
          <p:cNvPr id="28" name="answer-box-4"/>
          <p:cNvSpPr/>
          <p:nvPr/>
        </p:nvSpPr>
        <p:spPr>
          <a:xfrm>
            <a:off x="6053328" y="2834640"/>
            <a:ext cx="1234440" cy="777240"/>
          </a:xfrm>
          <a:prstGeom prst="roundRect">
            <a:avLst>
              <a:gd name="adj" fmla="val 7059"/>
            </a:avLst>
          </a:prstGeom>
          <a:solidFill>
            <a:schemeClr val="bg2"/>
          </a:solidFill>
          <a:ln w="12700">
            <a:solidFill>
              <a:schemeClr val="accent6"/>
            </a:solidFill>
            <a:prstDash val="solid"/>
          </a:ln>
        </p:spPr>
      </p:sp>
      <p:sp>
        <p:nvSpPr>
          <p:cNvPr id="29" name="Text 27"/>
          <p:cNvSpPr txBox="1"/>
          <p:nvPr/>
        </p:nvSpPr>
        <p:spPr>
          <a:xfrm>
            <a:off x="6099048" y="2834640"/>
            <a:ext cx="1143000" cy="777240"/>
          </a:xfrm>
          <a:prstGeom prst="rect">
            <a:avLst/>
          </a:prstGeom>
          <a:noFill/>
          <a:ln/>
        </p:spPr>
        <p:txBody>
          <a:bodyPr wrap="square" lIns="0" tIns="0" rIns="0" bIns="0" rtlCol="0" anchor="ctr"/>
          <a:lstStyle/>
          <a:p>
            <a:pPr algn="ctr" indent="0" marL="0">
              <a:buNone/>
            </a:pPr>
            <a:r>
              <a:rPr lang="en-US" sz="1200" dirty="0">
                <a:solidFill>
                  <a:schemeClr val="tx1"/>
                </a:solidFill>
              </a:rPr>
              <a:t>gemini-2.5-flash</a:t>
            </a:r>
            <a:endParaRPr lang="en-US" sz="1200" dirty="0"/>
          </a:p>
          <a:p>
            <a:pPr algn="ctr" indent="0" marL="0">
              <a:buNone/>
            </a:pPr>
            <a:r>
              <a:rPr lang="en-US" sz="1200" dirty="0">
                <a:solidFill>
                  <a:schemeClr val="tx1"/>
                </a:solidFill>
              </a:rPr>
              <a:t>cited answer</a:t>
            </a:r>
            <a:endParaRPr lang="en-US" sz="1200" dirty="0"/>
          </a:p>
        </p:txBody>
      </p:sp>
      <p:sp>
        <p:nvSpPr>
          <p:cNvPr id="30" name="answer-arrow-4"/>
          <p:cNvSpPr/>
          <p:nvPr/>
        </p:nvSpPr>
        <p:spPr>
          <a:xfrm>
            <a:off x="7287768" y="3223260"/>
            <a:ext cx="164592" cy="914"/>
          </a:xfrm>
          <a:prstGeom prst="line">
            <a:avLst/>
          </a:prstGeom>
          <a:noFill/>
          <a:ln w="15875">
            <a:solidFill>
              <a:schemeClr val="accent4"/>
            </a:solidFill>
            <a:prstDash val="solid"/>
            <a:tailEnd type="triangle"/>
          </a:ln>
        </p:spPr>
      </p:sp>
      <p:sp>
        <p:nvSpPr>
          <p:cNvPr id="31" name="answer-box-5"/>
          <p:cNvSpPr/>
          <p:nvPr/>
        </p:nvSpPr>
        <p:spPr>
          <a:xfrm>
            <a:off x="7452360" y="2834640"/>
            <a:ext cx="1234440" cy="777240"/>
          </a:xfrm>
          <a:prstGeom prst="roundRect">
            <a:avLst>
              <a:gd name="adj" fmla="val 7059"/>
            </a:avLst>
          </a:prstGeom>
          <a:solidFill>
            <a:schemeClr val="accent1"/>
          </a:solidFill>
          <a:ln w="12700">
            <a:solidFill>
              <a:schemeClr val="accent1"/>
            </a:solidFill>
            <a:prstDash val="solid"/>
          </a:ln>
        </p:spPr>
      </p:sp>
      <p:sp>
        <p:nvSpPr>
          <p:cNvPr id="32" name="Text 30"/>
          <p:cNvSpPr txBox="1"/>
          <p:nvPr/>
        </p:nvSpPr>
        <p:spPr>
          <a:xfrm>
            <a:off x="7498080" y="2834640"/>
            <a:ext cx="1143000" cy="777240"/>
          </a:xfrm>
          <a:prstGeom prst="rect">
            <a:avLst/>
          </a:prstGeom>
          <a:noFill/>
          <a:ln/>
        </p:spPr>
        <p:txBody>
          <a:bodyPr wrap="square" lIns="0" tIns="0" rIns="0" bIns="0" rtlCol="0" anchor="ctr"/>
          <a:lstStyle/>
          <a:p>
            <a:pPr algn="ctr" indent="0" marL="0">
              <a:buNone/>
            </a:pPr>
            <a:r>
              <a:rPr lang="en-US" sz="1200" b="1" dirty="0">
                <a:solidFill>
                  <a:schemeClr val="bg1"/>
                </a:solidFill>
              </a:rPr>
              <a:t>Code verifies</a:t>
            </a:r>
            <a:endParaRPr lang="en-US" sz="1200" dirty="0"/>
          </a:p>
          <a:p>
            <a:pPr algn="ctr" indent="0" marL="0">
              <a:buNone/>
            </a:pPr>
            <a:r>
              <a:rPr lang="en-US" sz="1200" b="1" dirty="0">
                <a:solidFill>
                  <a:schemeClr val="bg1"/>
                </a:solidFill>
              </a:rPr>
              <a:t>citations</a:t>
            </a:r>
            <a:endParaRPr lang="en-US" sz="1200" dirty="0"/>
          </a:p>
        </p:txBody>
      </p:sp>
      <p:sp>
        <p:nvSpPr>
          <p:cNvPr id="33" name="db-link-h"/>
          <p:cNvSpPr/>
          <p:nvPr/>
        </p:nvSpPr>
        <p:spPr>
          <a:xfrm>
            <a:off x="3872484" y="2377440"/>
            <a:ext cx="3890772" cy="0"/>
          </a:xfrm>
          <a:prstGeom prst="line">
            <a:avLst/>
          </a:prstGeom>
          <a:noFill/>
          <a:ln w="12700">
            <a:solidFill>
              <a:schemeClr val="accent4"/>
            </a:solidFill>
            <a:prstDash val="dash"/>
          </a:ln>
        </p:spPr>
      </p:sp>
      <p:sp>
        <p:nvSpPr>
          <p:cNvPr id="34" name="db-link-v1"/>
          <p:cNvSpPr/>
          <p:nvPr/>
        </p:nvSpPr>
        <p:spPr>
          <a:xfrm>
            <a:off x="7763256" y="2103120"/>
            <a:ext cx="914" cy="274320"/>
          </a:xfrm>
          <a:prstGeom prst="line">
            <a:avLst/>
          </a:prstGeom>
          <a:noFill/>
          <a:ln w="12700">
            <a:solidFill>
              <a:schemeClr val="accent4"/>
            </a:solidFill>
            <a:prstDash val="dash"/>
          </a:ln>
        </p:spPr>
      </p:sp>
      <p:sp>
        <p:nvSpPr>
          <p:cNvPr id="35" name="db-link-v2"/>
          <p:cNvSpPr/>
          <p:nvPr/>
        </p:nvSpPr>
        <p:spPr>
          <a:xfrm>
            <a:off x="3872484" y="2377440"/>
            <a:ext cx="914" cy="457200"/>
          </a:xfrm>
          <a:prstGeom prst="line">
            <a:avLst/>
          </a:prstGeom>
          <a:noFill/>
          <a:ln w="15875">
            <a:solidFill>
              <a:schemeClr val="accent4"/>
            </a:solidFill>
            <a:prstDash val="solid"/>
            <a:tailEnd type="triangle"/>
          </a:ln>
        </p:spPr>
      </p:sp>
      <p:sp>
        <p:nvSpPr>
          <p:cNvPr id="36" name="loop-h"/>
          <p:cNvSpPr/>
          <p:nvPr/>
        </p:nvSpPr>
        <p:spPr>
          <a:xfrm>
            <a:off x="3872484" y="3840480"/>
            <a:ext cx="1399032" cy="0"/>
          </a:xfrm>
          <a:prstGeom prst="line">
            <a:avLst/>
          </a:prstGeom>
          <a:noFill/>
          <a:ln w="15875">
            <a:solidFill>
              <a:schemeClr val="accent3"/>
            </a:solidFill>
            <a:prstDash val="solid"/>
          </a:ln>
        </p:spPr>
      </p:sp>
      <p:sp>
        <p:nvSpPr>
          <p:cNvPr id="37" name="loop-v1"/>
          <p:cNvSpPr/>
          <p:nvPr/>
        </p:nvSpPr>
        <p:spPr>
          <a:xfrm>
            <a:off x="5271516" y="3611880"/>
            <a:ext cx="914" cy="228600"/>
          </a:xfrm>
          <a:prstGeom prst="line">
            <a:avLst/>
          </a:prstGeom>
          <a:noFill/>
          <a:ln w="15875">
            <a:solidFill>
              <a:schemeClr val="accent3"/>
            </a:solidFill>
            <a:prstDash val="solid"/>
          </a:ln>
        </p:spPr>
      </p:sp>
      <p:sp>
        <p:nvSpPr>
          <p:cNvPr id="38" name="loop-v2"/>
          <p:cNvSpPr/>
          <p:nvPr/>
        </p:nvSpPr>
        <p:spPr>
          <a:xfrm flipV="1">
            <a:off x="3872484" y="3611880"/>
            <a:ext cx="914" cy="228600"/>
          </a:xfrm>
          <a:prstGeom prst="line">
            <a:avLst/>
          </a:prstGeom>
          <a:noFill/>
          <a:ln w="15875">
            <a:solidFill>
              <a:schemeClr val="accent3"/>
            </a:solidFill>
            <a:prstDash val="solid"/>
            <a:tailEnd type="triangle"/>
          </a:ln>
        </p:spPr>
      </p:sp>
      <p:sp>
        <p:nvSpPr>
          <p:cNvPr id="39" name="Text 37"/>
          <p:cNvSpPr txBox="1"/>
          <p:nvPr/>
        </p:nvSpPr>
        <p:spPr>
          <a:xfrm>
            <a:off x="3689604" y="3886200"/>
            <a:ext cx="2926080" cy="274320"/>
          </a:xfrm>
          <a:prstGeom prst="rect">
            <a:avLst/>
          </a:prstGeom>
          <a:noFill/>
          <a:ln/>
        </p:spPr>
        <p:txBody>
          <a:bodyPr wrap="square" lIns="0" tIns="0" rIns="0" bIns="0" rtlCol="0" anchor="t"/>
          <a:lstStyle/>
          <a:p>
            <a:pPr indent="0" marL="0">
              <a:buNone/>
            </a:pPr>
            <a:r>
              <a:rPr lang="en-US" sz="1100" i="1" dirty="0">
                <a:solidFill>
                  <a:schemeClr val="accent3"/>
                </a:solidFill>
              </a:rPr>
              <a:t>no: search again (max 3 rounds)</a:t>
            </a:r>
            <a:endParaRPr lang="en-US" sz="1100" dirty="0"/>
          </a:p>
        </p:txBody>
      </p:sp>
      <p:sp>
        <p:nvSpPr>
          <p:cNvPr id="40" name="Text 38"/>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100" dirty="0">
                <a:solidFill>
                  <a:schemeClr val="accent4"/>
                </a:solidFill>
              </a:rPr>
              <a:t>Runs on the laptop except the two Gemini models (Vertex AI project hcb-dev-genai-tools)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Tools and why</a:t>
            </a:r>
            <a:endParaRPr lang="en-US" sz="3600" dirty="0"/>
          </a:p>
        </p:txBody>
      </p:sp>
      <p:sp>
        <p:nvSpPr>
          <p:cNvPr id="3" name="tool-card-0"/>
          <p:cNvSpPr/>
          <p:nvPr/>
        </p:nvSpPr>
        <p:spPr>
          <a:xfrm>
            <a:off x="457200" y="1188720"/>
            <a:ext cx="4023360" cy="1508760"/>
          </a:xfrm>
          <a:prstGeom prst="roundRect">
            <a:avLst>
              <a:gd name="adj" fmla="val 4848"/>
            </a:avLst>
          </a:prstGeom>
          <a:solidFill>
            <a:schemeClr val="bg2"/>
          </a:solidFill>
          <a:ln w="12700">
            <a:solidFill>
              <a:schemeClr val="bg2"/>
            </a:solidFill>
            <a:prstDash val="solid"/>
          </a:ln>
        </p:spPr>
      </p:sp>
      <p:sp>
        <p:nvSpPr>
          <p:cNvPr id="4" name="tool-0-circle"/>
          <p:cNvSpPr/>
          <p:nvPr/>
        </p:nvSpPr>
        <p:spPr>
          <a:xfrm>
            <a:off x="731520" y="1508760"/>
            <a:ext cx="731520" cy="731520"/>
          </a:xfrm>
          <a:prstGeom prst="ellipse">
            <a:avLst/>
          </a:prstGeom>
          <a:solidFill>
            <a:schemeClr val="accent2"/>
          </a:solidFill>
          <a:ln w="12700">
            <a:solidFill>
              <a:schemeClr val="accent2"/>
            </a:solidFill>
            <a:prstDash val="solid"/>
          </a:ln>
        </p:spPr>
      </p:sp>
      <p:pic>
        <p:nvPicPr>
          <p:cNvPr id="5" name="tool-0-icon" descr="preencoded.png">    </p:cNvPr>
          <p:cNvPicPr>
            <a:picLocks noChangeAspect="1"/>
          </p:cNvPicPr>
          <p:nvPr/>
        </p:nvPicPr>
        <p:blipFill>
          <a:blip r:embed="rId1"/>
          <a:stretch>
            <a:fillRect/>
          </a:stretch>
        </p:blipFill>
        <p:spPr>
          <a:xfrm>
            <a:off x="914400" y="1691640"/>
            <a:ext cx="365760" cy="365760"/>
          </a:xfrm>
          <a:prstGeom prst="rect">
            <a:avLst/>
          </a:prstGeom>
        </p:spPr>
      </p:pic>
      <p:sp>
        <p:nvSpPr>
          <p:cNvPr id="6" name="Text 3"/>
          <p:cNvSpPr txBox="1"/>
          <p:nvPr/>
        </p:nvSpPr>
        <p:spPr>
          <a:xfrm>
            <a:off x="1691640" y="1417320"/>
            <a:ext cx="2606040" cy="365760"/>
          </a:xfrm>
          <a:prstGeom prst="rect">
            <a:avLst/>
          </a:prstGeom>
          <a:noFill/>
          <a:ln/>
        </p:spPr>
        <p:txBody>
          <a:bodyPr wrap="square" lIns="0" tIns="0" rIns="0" bIns="0" rtlCol="0" anchor="t"/>
          <a:lstStyle/>
          <a:p>
            <a:pPr indent="0" marL="0">
              <a:buNone/>
            </a:pPr>
            <a:r>
              <a:rPr lang="en-US" sz="1800" b="1" dirty="0">
                <a:solidFill>
                  <a:schemeClr val="tx2"/>
                </a:solidFill>
              </a:rPr>
              <a:t>Gemini via Vertex AI</a:t>
            </a:r>
            <a:endParaRPr lang="en-US" sz="1800" dirty="0"/>
          </a:p>
        </p:txBody>
      </p:sp>
      <p:sp>
        <p:nvSpPr>
          <p:cNvPr id="7" name="Text 4"/>
          <p:cNvSpPr txBox="1"/>
          <p:nvPr/>
        </p:nvSpPr>
        <p:spPr>
          <a:xfrm>
            <a:off x="1691640" y="1801368"/>
            <a:ext cx="2606040" cy="822960"/>
          </a:xfrm>
          <a:prstGeom prst="rect">
            <a:avLst/>
          </a:prstGeom>
          <a:noFill/>
          <a:ln/>
        </p:spPr>
        <p:txBody>
          <a:bodyPr wrap="square" lIns="0" tIns="0" rIns="0" bIns="0" rtlCol="0" anchor="t"/>
          <a:lstStyle/>
          <a:p>
            <a:pPr indent="0" marL="0">
              <a:buNone/>
            </a:pPr>
            <a:r>
              <a:rPr lang="en-US" sz="1200" dirty="0">
                <a:solidFill>
                  <a:schemeClr val="accent4"/>
                </a:solidFill>
              </a:rPr>
              <a:t>gemini-embedding-001 and gemini-2.5-flash in our project; company gcloud login, no API key in the code</a:t>
            </a:r>
            <a:endParaRPr lang="en-US" sz="1200" dirty="0"/>
          </a:p>
        </p:txBody>
      </p:sp>
      <p:sp>
        <p:nvSpPr>
          <p:cNvPr id="8" name="tool-card-1"/>
          <p:cNvSpPr/>
          <p:nvPr/>
        </p:nvSpPr>
        <p:spPr>
          <a:xfrm>
            <a:off x="4663440" y="1188720"/>
            <a:ext cx="4023360" cy="1508760"/>
          </a:xfrm>
          <a:prstGeom prst="roundRect">
            <a:avLst>
              <a:gd name="adj" fmla="val 4848"/>
            </a:avLst>
          </a:prstGeom>
          <a:solidFill>
            <a:schemeClr val="bg2"/>
          </a:solidFill>
          <a:ln w="12700">
            <a:solidFill>
              <a:schemeClr val="bg2"/>
            </a:solidFill>
            <a:prstDash val="solid"/>
          </a:ln>
        </p:spPr>
      </p:sp>
      <p:sp>
        <p:nvSpPr>
          <p:cNvPr id="9" name="tool-1-circle"/>
          <p:cNvSpPr/>
          <p:nvPr/>
        </p:nvSpPr>
        <p:spPr>
          <a:xfrm>
            <a:off x="4937760" y="1508760"/>
            <a:ext cx="731520" cy="731520"/>
          </a:xfrm>
          <a:prstGeom prst="ellipse">
            <a:avLst/>
          </a:prstGeom>
          <a:solidFill>
            <a:schemeClr val="accent2"/>
          </a:solidFill>
          <a:ln w="12700">
            <a:solidFill>
              <a:schemeClr val="accent2"/>
            </a:solidFill>
            <a:prstDash val="solid"/>
          </a:ln>
        </p:spPr>
      </p:sp>
      <p:pic>
        <p:nvPicPr>
          <p:cNvPr id="10" name="tool-1-icon" descr="preencoded.png">    </p:cNvPr>
          <p:cNvPicPr>
            <a:picLocks noChangeAspect="1"/>
          </p:cNvPicPr>
          <p:nvPr/>
        </p:nvPicPr>
        <p:blipFill>
          <a:blip r:embed="rId2"/>
          <a:stretch>
            <a:fillRect/>
          </a:stretch>
        </p:blipFill>
        <p:spPr>
          <a:xfrm>
            <a:off x="5120640" y="1691640"/>
            <a:ext cx="365760" cy="365760"/>
          </a:xfrm>
          <a:prstGeom prst="rect">
            <a:avLst/>
          </a:prstGeom>
        </p:spPr>
      </p:pic>
      <p:sp>
        <p:nvSpPr>
          <p:cNvPr id="11" name="Text 7"/>
          <p:cNvSpPr txBox="1"/>
          <p:nvPr/>
        </p:nvSpPr>
        <p:spPr>
          <a:xfrm>
            <a:off x="5897880" y="1417320"/>
            <a:ext cx="2606040" cy="365760"/>
          </a:xfrm>
          <a:prstGeom prst="rect">
            <a:avLst/>
          </a:prstGeom>
          <a:noFill/>
          <a:ln/>
        </p:spPr>
        <p:txBody>
          <a:bodyPr wrap="square" lIns="0" tIns="0" rIns="0" bIns="0" rtlCol="0" anchor="t"/>
          <a:lstStyle/>
          <a:p>
            <a:pPr indent="0" marL="0">
              <a:buNone/>
            </a:pPr>
            <a:r>
              <a:rPr lang="en-US" sz="1800" b="1" dirty="0">
                <a:solidFill>
                  <a:schemeClr val="tx2"/>
                </a:solidFill>
              </a:rPr>
              <a:t>PostgreSQL 16</a:t>
            </a:r>
            <a:endParaRPr lang="en-US" sz="1800" dirty="0"/>
          </a:p>
        </p:txBody>
      </p:sp>
      <p:sp>
        <p:nvSpPr>
          <p:cNvPr id="12" name="Text 8"/>
          <p:cNvSpPr txBox="1"/>
          <p:nvPr/>
        </p:nvSpPr>
        <p:spPr>
          <a:xfrm>
            <a:off x="5897880" y="1801368"/>
            <a:ext cx="2606040" cy="822960"/>
          </a:xfrm>
          <a:prstGeom prst="rect">
            <a:avLst/>
          </a:prstGeom>
          <a:noFill/>
          <a:ln/>
        </p:spPr>
        <p:txBody>
          <a:bodyPr wrap="square" lIns="0" tIns="0" rIns="0" bIns="0" rtlCol="0" anchor="t"/>
          <a:lstStyle/>
          <a:p>
            <a:pPr indent="0" marL="0">
              <a:buNone/>
            </a:pPr>
            <a:r>
              <a:rPr lang="en-US" sz="1200" dirty="0">
                <a:solidFill>
                  <a:schemeClr val="accent4"/>
                </a:solidFill>
              </a:rPr>
              <a:t>One database for documents, chunks, embeddings and chat history; it also runs the keyword search</a:t>
            </a:r>
            <a:endParaRPr lang="en-US" sz="1200" dirty="0"/>
          </a:p>
        </p:txBody>
      </p:sp>
      <p:sp>
        <p:nvSpPr>
          <p:cNvPr id="13" name="tool-card-2"/>
          <p:cNvSpPr/>
          <p:nvPr/>
        </p:nvSpPr>
        <p:spPr>
          <a:xfrm>
            <a:off x="457200" y="2880360"/>
            <a:ext cx="4023360" cy="1508760"/>
          </a:xfrm>
          <a:prstGeom prst="roundRect">
            <a:avLst>
              <a:gd name="adj" fmla="val 4848"/>
            </a:avLst>
          </a:prstGeom>
          <a:solidFill>
            <a:schemeClr val="bg2"/>
          </a:solidFill>
          <a:ln w="12700">
            <a:solidFill>
              <a:schemeClr val="bg2"/>
            </a:solidFill>
            <a:prstDash val="solid"/>
          </a:ln>
        </p:spPr>
      </p:sp>
      <p:sp>
        <p:nvSpPr>
          <p:cNvPr id="14" name="tool-2-circle"/>
          <p:cNvSpPr/>
          <p:nvPr/>
        </p:nvSpPr>
        <p:spPr>
          <a:xfrm>
            <a:off x="731520" y="3200400"/>
            <a:ext cx="731520" cy="731520"/>
          </a:xfrm>
          <a:prstGeom prst="ellipse">
            <a:avLst/>
          </a:prstGeom>
          <a:solidFill>
            <a:schemeClr val="accent2"/>
          </a:solidFill>
          <a:ln w="12700">
            <a:solidFill>
              <a:schemeClr val="accent2"/>
            </a:solidFill>
            <a:prstDash val="solid"/>
          </a:ln>
        </p:spPr>
      </p:sp>
      <p:pic>
        <p:nvPicPr>
          <p:cNvPr id="15" name="tool-2-icon" descr="preencoded.png">    </p:cNvPr>
          <p:cNvPicPr>
            <a:picLocks noChangeAspect="1"/>
          </p:cNvPicPr>
          <p:nvPr/>
        </p:nvPicPr>
        <p:blipFill>
          <a:blip r:embed="rId3"/>
          <a:stretch>
            <a:fillRect/>
          </a:stretch>
        </p:blipFill>
        <p:spPr>
          <a:xfrm>
            <a:off x="914400" y="3383280"/>
            <a:ext cx="365760" cy="365760"/>
          </a:xfrm>
          <a:prstGeom prst="rect">
            <a:avLst/>
          </a:prstGeom>
        </p:spPr>
      </p:pic>
      <p:sp>
        <p:nvSpPr>
          <p:cNvPr id="16" name="Text 11"/>
          <p:cNvSpPr txBox="1"/>
          <p:nvPr/>
        </p:nvSpPr>
        <p:spPr>
          <a:xfrm>
            <a:off x="1691640" y="3108960"/>
            <a:ext cx="2606040" cy="365760"/>
          </a:xfrm>
          <a:prstGeom prst="rect">
            <a:avLst/>
          </a:prstGeom>
          <a:noFill/>
          <a:ln/>
        </p:spPr>
        <p:txBody>
          <a:bodyPr wrap="square" lIns="0" tIns="0" rIns="0" bIns="0" rtlCol="0" anchor="t"/>
          <a:lstStyle/>
          <a:p>
            <a:pPr indent="0" marL="0">
              <a:buNone/>
            </a:pPr>
            <a:r>
              <a:rPr lang="en-US" sz="1800" b="1" dirty="0">
                <a:solidFill>
                  <a:schemeClr val="tx2"/>
                </a:solidFill>
              </a:rPr>
              <a:t>Python + Next.js</a:t>
            </a:r>
            <a:endParaRPr lang="en-US" sz="1800" dirty="0"/>
          </a:p>
        </p:txBody>
      </p:sp>
      <p:sp>
        <p:nvSpPr>
          <p:cNvPr id="17" name="Text 12"/>
          <p:cNvSpPr txBox="1"/>
          <p:nvPr/>
        </p:nvSpPr>
        <p:spPr>
          <a:xfrm>
            <a:off x="1691640" y="3493008"/>
            <a:ext cx="2606040" cy="822960"/>
          </a:xfrm>
          <a:prstGeom prst="rect">
            <a:avLst/>
          </a:prstGeom>
          <a:noFill/>
          <a:ln/>
        </p:spPr>
        <p:txBody>
          <a:bodyPr wrap="square" lIns="0" tIns="0" rIns="0" bIns="0" rtlCol="0" anchor="t"/>
          <a:lstStyle/>
          <a:p>
            <a:pPr indent="0" marL="0">
              <a:buNone/>
            </a:pPr>
            <a:r>
              <a:rPr lang="en-US" sz="1200" dirty="0">
                <a:solidFill>
                  <a:schemeClr val="accent4"/>
                </a:solidFill>
              </a:rPr>
              <a:t>FastAPI backend with the official Google Gen AI SDK; Next.js website with clickable sources</a:t>
            </a:r>
            <a:endParaRPr lang="en-US" sz="1200" dirty="0"/>
          </a:p>
        </p:txBody>
      </p:sp>
      <p:sp>
        <p:nvSpPr>
          <p:cNvPr id="18" name="tool-card-3"/>
          <p:cNvSpPr/>
          <p:nvPr/>
        </p:nvSpPr>
        <p:spPr>
          <a:xfrm>
            <a:off x="4663440" y="2880360"/>
            <a:ext cx="4023360" cy="1508760"/>
          </a:xfrm>
          <a:prstGeom prst="roundRect">
            <a:avLst>
              <a:gd name="adj" fmla="val 4848"/>
            </a:avLst>
          </a:prstGeom>
          <a:solidFill>
            <a:schemeClr val="bg2"/>
          </a:solidFill>
          <a:ln w="12700">
            <a:solidFill>
              <a:schemeClr val="bg2"/>
            </a:solidFill>
            <a:prstDash val="solid"/>
          </a:ln>
        </p:spPr>
      </p:sp>
      <p:sp>
        <p:nvSpPr>
          <p:cNvPr id="19" name="tool-3-circle"/>
          <p:cNvSpPr/>
          <p:nvPr/>
        </p:nvSpPr>
        <p:spPr>
          <a:xfrm>
            <a:off x="4937760" y="3200400"/>
            <a:ext cx="731520" cy="731520"/>
          </a:xfrm>
          <a:prstGeom prst="ellipse">
            <a:avLst/>
          </a:prstGeom>
          <a:solidFill>
            <a:schemeClr val="accent3"/>
          </a:solidFill>
          <a:ln w="12700">
            <a:solidFill>
              <a:schemeClr val="accent3"/>
            </a:solidFill>
            <a:prstDash val="solid"/>
          </a:ln>
        </p:spPr>
      </p:sp>
      <p:pic>
        <p:nvPicPr>
          <p:cNvPr id="20" name="tool-3-icon" descr="preencoded.png">    </p:cNvPr>
          <p:cNvPicPr>
            <a:picLocks noChangeAspect="1"/>
          </p:cNvPicPr>
          <p:nvPr/>
        </p:nvPicPr>
        <p:blipFill>
          <a:blip r:embed="rId4"/>
          <a:stretch>
            <a:fillRect/>
          </a:stretch>
        </p:blipFill>
        <p:spPr>
          <a:xfrm>
            <a:off x="5120640" y="3383280"/>
            <a:ext cx="365760" cy="365760"/>
          </a:xfrm>
          <a:prstGeom prst="rect">
            <a:avLst/>
          </a:prstGeom>
        </p:spPr>
      </p:pic>
      <p:sp>
        <p:nvSpPr>
          <p:cNvPr id="21" name="Text 15"/>
          <p:cNvSpPr txBox="1"/>
          <p:nvPr/>
        </p:nvSpPr>
        <p:spPr>
          <a:xfrm>
            <a:off x="5897880" y="3108960"/>
            <a:ext cx="2606040" cy="365760"/>
          </a:xfrm>
          <a:prstGeom prst="rect">
            <a:avLst/>
          </a:prstGeom>
          <a:noFill/>
          <a:ln/>
        </p:spPr>
        <p:txBody>
          <a:bodyPr wrap="square" lIns="0" tIns="0" rIns="0" bIns="0" rtlCol="0" anchor="t"/>
          <a:lstStyle/>
          <a:p>
            <a:pPr indent="0" marL="0">
              <a:buNone/>
            </a:pPr>
            <a:r>
              <a:rPr lang="en-US" sz="1800" b="1" dirty="0">
                <a:solidFill>
                  <a:schemeClr val="tx2"/>
                </a:solidFill>
              </a:rPr>
              <a:t>Hybrid search + RRF</a:t>
            </a:r>
            <a:endParaRPr lang="en-US" sz="1800" dirty="0"/>
          </a:p>
        </p:txBody>
      </p:sp>
      <p:sp>
        <p:nvSpPr>
          <p:cNvPr id="22" name="Text 16"/>
          <p:cNvSpPr txBox="1"/>
          <p:nvPr/>
        </p:nvSpPr>
        <p:spPr>
          <a:xfrm>
            <a:off x="5897880" y="3493008"/>
            <a:ext cx="2606040" cy="822960"/>
          </a:xfrm>
          <a:prstGeom prst="rect">
            <a:avLst/>
          </a:prstGeom>
          <a:noFill/>
          <a:ln/>
        </p:spPr>
        <p:txBody>
          <a:bodyPr wrap="square" lIns="0" tIns="0" rIns="0" bIns="0" rtlCol="0" anchor="t"/>
          <a:lstStyle/>
          <a:p>
            <a:pPr indent="0" marL="0">
              <a:buNone/>
            </a:pPr>
            <a:r>
              <a:rPr lang="en-US" sz="1200" dirty="0">
                <a:solidFill>
                  <a:schemeClr val="accent4"/>
                </a:solidFill>
              </a:rPr>
              <a:t>Meaning search finds reworded answers, keyword search finds exact codes; RRF merges both rankings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Live demo</a:t>
            </a:r>
            <a:endParaRPr lang="en-US" sz="3600" dirty="0"/>
          </a:p>
        </p:txBody>
      </p:sp>
      <p:sp>
        <p:nvSpPr>
          <p:cNvPr id="3" name="demo-num-0"/>
          <p:cNvSpPr/>
          <p:nvPr/>
        </p:nvSpPr>
        <p:spPr>
          <a:xfrm>
            <a:off x="457200" y="123444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97280" y="1252728"/>
            <a:ext cx="3566160" cy="548640"/>
          </a:xfrm>
          <a:prstGeom prst="rect">
            <a:avLst/>
          </a:prstGeom>
          <a:noFill/>
          <a:ln/>
        </p:spPr>
        <p:txBody>
          <a:bodyPr wrap="square" lIns="0" tIns="0" rIns="0" bIns="0" rtlCol="0" anchor="ctr"/>
          <a:lstStyle/>
          <a:p>
            <a:pPr indent="0" marL="0">
              <a:buNone/>
            </a:pPr>
            <a:r>
              <a:rPr lang="en-US" sz="1400" dirty="0">
                <a:solidFill>
                  <a:schemeClr val="tx1"/>
                </a:solidFill>
              </a:rPr>
              <a:t>Knowledge base page: all 235 policies indexed</a:t>
            </a:r>
            <a:endParaRPr lang="en-US" sz="1400" dirty="0"/>
          </a:p>
        </p:txBody>
      </p:sp>
      <p:sp>
        <p:nvSpPr>
          <p:cNvPr id="6" name="demo-num-1"/>
          <p:cNvSpPr/>
          <p:nvPr/>
        </p:nvSpPr>
        <p:spPr>
          <a:xfrm>
            <a:off x="457200" y="201168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45720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097280" y="2029968"/>
            <a:ext cx="3566160" cy="548640"/>
          </a:xfrm>
          <a:prstGeom prst="rect">
            <a:avLst/>
          </a:prstGeom>
          <a:noFill/>
          <a:ln/>
        </p:spPr>
        <p:txBody>
          <a:bodyPr wrap="square" lIns="0" tIns="0" rIns="0" bIns="0" rtlCol="0" anchor="ctr"/>
          <a:lstStyle/>
          <a:p>
            <a:pPr indent="0" marL="0">
              <a:buNone/>
            </a:pPr>
            <a:r>
              <a:rPr lang="en-US" sz="1400" dirty="0">
                <a:solidFill>
                  <a:schemeClr val="tx1"/>
                </a:solidFill>
              </a:rPr>
              <a:t>Ask: “What is the policy on coordination of benefits?”</a:t>
            </a:r>
            <a:endParaRPr lang="en-US" sz="1400" dirty="0"/>
          </a:p>
        </p:txBody>
      </p:sp>
      <p:sp>
        <p:nvSpPr>
          <p:cNvPr id="9" name="demo-num-2"/>
          <p:cNvSpPr/>
          <p:nvPr/>
        </p:nvSpPr>
        <p:spPr>
          <a:xfrm>
            <a:off x="457200" y="278892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457200" y="2788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097280" y="2807208"/>
            <a:ext cx="3566160" cy="548640"/>
          </a:xfrm>
          <a:prstGeom prst="rect">
            <a:avLst/>
          </a:prstGeom>
          <a:noFill/>
          <a:ln/>
        </p:spPr>
        <p:txBody>
          <a:bodyPr wrap="square" lIns="0" tIns="0" rIns="0" bIns="0" rtlCol="0" anchor="ctr"/>
          <a:lstStyle/>
          <a:p>
            <a:pPr indent="0" marL="0">
              <a:buNone/>
            </a:pPr>
            <a:r>
              <a:rPr lang="en-US" sz="1400" dirty="0">
                <a:solidFill>
                  <a:schemeClr val="tx1"/>
                </a:solidFill>
              </a:rPr>
              <a:t>Click a source chip (S1) to see the exact passage</a:t>
            </a:r>
            <a:endParaRPr lang="en-US" sz="1400" dirty="0"/>
          </a:p>
        </p:txBody>
      </p:sp>
      <p:sp>
        <p:nvSpPr>
          <p:cNvPr id="12" name="demo-num-3"/>
          <p:cNvSpPr/>
          <p:nvPr/>
        </p:nvSpPr>
        <p:spPr>
          <a:xfrm>
            <a:off x="457200" y="356616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457200" y="3566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097280" y="3584448"/>
            <a:ext cx="3566160" cy="548640"/>
          </a:xfrm>
          <a:prstGeom prst="rect">
            <a:avLst/>
          </a:prstGeom>
          <a:noFill/>
          <a:ln/>
        </p:spPr>
        <p:txBody>
          <a:bodyPr wrap="square" lIns="0" tIns="0" rIns="0" bIns="0" rtlCol="0" anchor="ctr"/>
          <a:lstStyle/>
          <a:p>
            <a:pPr indent="0" marL="0">
              <a:buNone/>
            </a:pPr>
            <a:r>
              <a:rPr lang="en-US" sz="1400" dirty="0">
                <a:solidFill>
                  <a:schemeClr val="tx1"/>
                </a:solidFill>
              </a:rPr>
              <a:t>Ask something not in the policies: it says “not found”</a:t>
            </a:r>
            <a:endParaRPr lang="en-US" sz="1400" dirty="0"/>
          </a:p>
        </p:txBody>
      </p:sp>
      <p:sp>
        <p:nvSpPr>
          <p:cNvPr id="15" name="demo-commands"/>
          <p:cNvSpPr/>
          <p:nvPr/>
        </p:nvSpPr>
        <p:spPr>
          <a:xfrm>
            <a:off x="4937760" y="1234440"/>
            <a:ext cx="3749040" cy="2697480"/>
          </a:xfrm>
          <a:prstGeom prst="roundRect">
            <a:avLst>
              <a:gd name="adj" fmla="val 2712"/>
            </a:avLst>
          </a:prstGeom>
          <a:solidFill>
            <a:schemeClr val="tx2"/>
          </a:solidFill>
          <a:ln w="12700">
            <a:solidFill>
              <a:schemeClr val="tx2"/>
            </a:solidFill>
            <a:prstDash val="solid"/>
          </a:ln>
        </p:spPr>
      </p:sp>
      <p:sp>
        <p:nvSpPr>
          <p:cNvPr id="16" name="Text 14"/>
          <p:cNvSpPr txBox="1"/>
          <p:nvPr/>
        </p:nvSpPr>
        <p:spPr>
          <a:xfrm>
            <a:off x="5166360" y="1371600"/>
            <a:ext cx="3291840" cy="320040"/>
          </a:xfrm>
          <a:prstGeom prst="rect">
            <a:avLst/>
          </a:prstGeom>
          <a:noFill/>
          <a:ln/>
        </p:spPr>
        <p:txBody>
          <a:bodyPr wrap="square" lIns="0" tIns="0" rIns="0" bIns="0" rtlCol="0" anchor="t"/>
          <a:lstStyle/>
          <a:p>
            <a:pPr indent="0" marL="0">
              <a:buNone/>
            </a:pPr>
            <a:r>
              <a:rPr lang="en-US" sz="1400" b="1" dirty="0">
                <a:solidFill>
                  <a:schemeClr val="bg1"/>
                </a:solidFill>
              </a:rPr>
              <a:t>Start before the meeting</a:t>
            </a:r>
            <a:endParaRPr lang="en-US" sz="1400" dirty="0"/>
          </a:p>
        </p:txBody>
      </p:sp>
      <p:sp>
        <p:nvSpPr>
          <p:cNvPr id="17" name="Text 15"/>
          <p:cNvSpPr txBox="1"/>
          <p:nvPr/>
        </p:nvSpPr>
        <p:spPr>
          <a:xfrm>
            <a:off x="5166360" y="1783080"/>
            <a:ext cx="3383280" cy="2377440"/>
          </a:xfrm>
          <a:prstGeom prst="rect">
            <a:avLst/>
          </a:prstGeom>
          <a:noFill/>
          <a:ln/>
        </p:spPr>
        <p:txBody>
          <a:bodyPr wrap="square" lIns="0" tIns="0" rIns="0" bIns="0" rtlCol="0" anchor="t"/>
          <a:lstStyle/>
          <a:p>
            <a:pPr indent="0" marL="0">
              <a:buNone/>
            </a:pPr>
            <a:r>
              <a:rPr lang="en-US" sz="1200" dirty="0">
                <a:solidFill>
                  <a:schemeClr val="accent6"/>
                </a:solidFill>
              </a:rPr>
              <a:t>1  database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pg_ctl.exe ... start</a:t>
            </a:r>
            <a:endParaRPr lang="en-US" sz="1200" dirty="0"/>
          </a:p>
          <a:p>
            <a:pPr indent="0" marL="0">
              <a:buNone/>
            </a:pPr>
            <a:r>
              <a:rPr lang="en-US" sz="600" dirty="0">
                <a:solidFill>
                  <a:schemeClr val="tx1"/>
                </a:solidFill>
              </a:rPr>
              <a:t> </a:t>
            </a:r>
            <a:endParaRPr lang="en-US" sz="1200" dirty="0"/>
          </a:p>
          <a:p>
            <a:pPr indent="0" marL="0">
              <a:buNone/>
            </a:pPr>
            <a:r>
              <a:rPr lang="en-US" sz="1200" dirty="0">
                <a:solidFill>
                  <a:schemeClr val="accent6"/>
                </a:solidFill>
              </a:rPr>
              <a:t>2  backend (backend folder)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uvicorn app.main:app --port 8000</a:t>
            </a:r>
            <a:endParaRPr lang="en-US" sz="1200" dirty="0"/>
          </a:p>
          <a:p>
            <a:pPr indent="0" marL="0">
              <a:buNone/>
            </a:pPr>
            <a:r>
              <a:rPr lang="en-US" sz="600" dirty="0">
                <a:solidFill>
                  <a:schemeClr val="tx1"/>
                </a:solidFill>
              </a:rPr>
              <a:t> </a:t>
            </a:r>
            <a:endParaRPr lang="en-US" sz="1200" dirty="0"/>
          </a:p>
          <a:p>
            <a:pPr indent="0" marL="0">
              <a:buNone/>
            </a:pPr>
            <a:r>
              <a:rPr lang="en-US" sz="1200" dirty="0">
                <a:solidFill>
                  <a:schemeClr val="accent6"/>
                </a:solidFill>
              </a:rPr>
              <a:t>3  website (frontend folder)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npm run dev</a:t>
            </a:r>
            <a:endParaRPr lang="en-US" sz="1200" dirty="0"/>
          </a:p>
          <a:p>
            <a:pPr indent="0" marL="0">
              <a:buNone/>
            </a:pPr>
            <a:r>
              <a:rPr lang="en-US" sz="600" dirty="0">
                <a:solidFill>
                  <a:schemeClr val="tx1"/>
                </a:solidFill>
              </a:rPr>
              <a:t> </a:t>
            </a:r>
            <a:endParaRPr lang="en-US" sz="1200" dirty="0"/>
          </a:p>
          <a:p>
            <a:pPr indent="0" marL="0">
              <a:buNone/>
            </a:pPr>
            <a:r>
              <a:rPr lang="en-US" sz="1200" dirty="0">
                <a:solidFill>
                  <a:schemeClr val="accent3"/>
                </a:solidFill>
              </a:rPr>
              <a:t>4  open http://localhost:3000</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Results</a:t>
            </a:r>
            <a:endParaRPr lang="en-US" sz="3600" dirty="0"/>
          </a:p>
        </p:txBody>
      </p:sp>
      <p:sp>
        <p:nvSpPr>
          <p:cNvPr id="3" name="stat-card-0"/>
          <p:cNvSpPr/>
          <p:nvPr/>
        </p:nvSpPr>
        <p:spPr>
          <a:xfrm>
            <a:off x="457200" y="1188720"/>
            <a:ext cx="1920240" cy="2011680"/>
          </a:xfrm>
          <a:prstGeom prst="roundRect">
            <a:avLst>
              <a:gd name="adj" fmla="val 3810"/>
            </a:avLst>
          </a:prstGeom>
          <a:solidFill>
            <a:schemeClr val="bg2"/>
          </a:solidFill>
          <a:ln w="12700">
            <a:solidFill>
              <a:schemeClr val="bg2"/>
            </a:solidFill>
            <a:prstDash val="solid"/>
          </a:ln>
        </p:spPr>
      </p:sp>
      <p:sp>
        <p:nvSpPr>
          <p:cNvPr id="4" name="Text 2"/>
          <p:cNvSpPr txBox="1"/>
          <p:nvPr/>
        </p:nvSpPr>
        <p:spPr>
          <a:xfrm>
            <a:off x="457200" y="1325880"/>
            <a:ext cx="1920240" cy="82296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235 / 235</a:t>
            </a:r>
            <a:endParaRPr lang="en-US" sz="3400" dirty="0"/>
          </a:p>
        </p:txBody>
      </p:sp>
      <p:sp>
        <p:nvSpPr>
          <p:cNvPr id="5" name="Text 3"/>
          <p:cNvSpPr txBox="1"/>
          <p:nvPr/>
        </p:nvSpPr>
        <p:spPr>
          <a:xfrm>
            <a:off x="548640" y="2194560"/>
            <a:ext cx="1737360" cy="457200"/>
          </a:xfrm>
          <a:prstGeom prst="rect">
            <a:avLst/>
          </a:prstGeom>
          <a:noFill/>
          <a:ln/>
        </p:spPr>
        <p:txBody>
          <a:bodyPr wrap="square" lIns="0" tIns="0" rIns="0" bIns="0" rtlCol="0" anchor="t"/>
          <a:lstStyle/>
          <a:p>
            <a:pPr algn="ctr" indent="0" marL="0">
              <a:buNone/>
            </a:pPr>
            <a:r>
              <a:rPr lang="en-US" sz="1400" b="1" dirty="0">
                <a:solidFill>
                  <a:schemeClr val="tx2"/>
                </a:solidFill>
              </a:rPr>
              <a:t>policy files indexed</a:t>
            </a:r>
            <a:endParaRPr lang="en-US" sz="1400" dirty="0"/>
          </a:p>
        </p:txBody>
      </p:sp>
      <p:sp>
        <p:nvSpPr>
          <p:cNvPr id="6" name="Text 4"/>
          <p:cNvSpPr txBox="1"/>
          <p:nvPr/>
        </p:nvSpPr>
        <p:spPr>
          <a:xfrm>
            <a:off x="548640" y="2651760"/>
            <a:ext cx="1737360" cy="457200"/>
          </a:xfrm>
          <a:prstGeom prst="rect">
            <a:avLst/>
          </a:prstGeom>
          <a:noFill/>
          <a:ln/>
        </p:spPr>
        <p:txBody>
          <a:bodyPr wrap="square" lIns="0" tIns="0" rIns="0" bIns="0" rtlCol="0" anchor="t"/>
          <a:lstStyle/>
          <a:p>
            <a:pPr algn="ctr" indent="0" marL="0">
              <a:buNone/>
            </a:pPr>
            <a:r>
              <a:rPr lang="en-US" sz="1200" dirty="0">
                <a:solidFill>
                  <a:schemeClr val="accent4"/>
                </a:solidFill>
              </a:rPr>
              <a:t>0 failed</a:t>
            </a:r>
            <a:endParaRPr lang="en-US" sz="1200" dirty="0"/>
          </a:p>
        </p:txBody>
      </p:sp>
      <p:sp>
        <p:nvSpPr>
          <p:cNvPr id="7" name="stat-card-1"/>
          <p:cNvSpPr/>
          <p:nvPr/>
        </p:nvSpPr>
        <p:spPr>
          <a:xfrm>
            <a:off x="2560320" y="1188720"/>
            <a:ext cx="1920240" cy="2011680"/>
          </a:xfrm>
          <a:prstGeom prst="roundRect">
            <a:avLst>
              <a:gd name="adj" fmla="val 3810"/>
            </a:avLst>
          </a:prstGeom>
          <a:solidFill>
            <a:schemeClr val="bg2"/>
          </a:solidFill>
          <a:ln w="12700">
            <a:solidFill>
              <a:schemeClr val="bg2"/>
            </a:solidFill>
            <a:prstDash val="solid"/>
          </a:ln>
        </p:spPr>
      </p:sp>
      <p:sp>
        <p:nvSpPr>
          <p:cNvPr id="8" name="Text 6"/>
          <p:cNvSpPr txBox="1"/>
          <p:nvPr/>
        </p:nvSpPr>
        <p:spPr>
          <a:xfrm>
            <a:off x="2560320" y="1325880"/>
            <a:ext cx="1920240" cy="82296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10,503</a:t>
            </a:r>
            <a:endParaRPr lang="en-US" sz="3400" dirty="0"/>
          </a:p>
        </p:txBody>
      </p:sp>
      <p:sp>
        <p:nvSpPr>
          <p:cNvPr id="9" name="Text 7"/>
          <p:cNvSpPr txBox="1"/>
          <p:nvPr/>
        </p:nvSpPr>
        <p:spPr>
          <a:xfrm>
            <a:off x="2651760" y="2194560"/>
            <a:ext cx="1737360" cy="457200"/>
          </a:xfrm>
          <a:prstGeom prst="rect">
            <a:avLst/>
          </a:prstGeom>
          <a:noFill/>
          <a:ln/>
        </p:spPr>
        <p:txBody>
          <a:bodyPr wrap="square" lIns="0" tIns="0" rIns="0" bIns="0" rtlCol="0" anchor="t"/>
          <a:lstStyle/>
          <a:p>
            <a:pPr algn="ctr" indent="0" marL="0">
              <a:buNone/>
            </a:pPr>
            <a:r>
              <a:rPr lang="en-US" sz="1400" b="1" dirty="0">
                <a:solidFill>
                  <a:schemeClr val="tx2"/>
                </a:solidFill>
              </a:rPr>
              <a:t>searchable chunks</a:t>
            </a:r>
            <a:endParaRPr lang="en-US" sz="1400" dirty="0"/>
          </a:p>
        </p:txBody>
      </p:sp>
      <p:sp>
        <p:nvSpPr>
          <p:cNvPr id="10" name="Text 8"/>
          <p:cNvSpPr txBox="1"/>
          <p:nvPr/>
        </p:nvSpPr>
        <p:spPr>
          <a:xfrm>
            <a:off x="2651760" y="2651760"/>
            <a:ext cx="1737360" cy="457200"/>
          </a:xfrm>
          <a:prstGeom prst="rect">
            <a:avLst/>
          </a:prstGeom>
          <a:noFill/>
          <a:ln/>
        </p:spPr>
        <p:txBody>
          <a:bodyPr wrap="square" lIns="0" tIns="0" rIns="0" bIns="0" rtlCol="0" anchor="t"/>
          <a:lstStyle/>
          <a:p>
            <a:pPr algn="ctr" indent="0" marL="0">
              <a:buNone/>
            </a:pPr>
            <a:r>
              <a:rPr lang="en-US" sz="1200" dirty="0">
                <a:solidFill>
                  <a:schemeClr val="accent4"/>
                </a:solidFill>
              </a:rPr>
              <a:t>9,321 embedded, 1,182 reused</a:t>
            </a:r>
            <a:endParaRPr lang="en-US" sz="1200" dirty="0"/>
          </a:p>
        </p:txBody>
      </p:sp>
      <p:sp>
        <p:nvSpPr>
          <p:cNvPr id="11" name="stat-card-2"/>
          <p:cNvSpPr/>
          <p:nvPr/>
        </p:nvSpPr>
        <p:spPr>
          <a:xfrm>
            <a:off x="4663440" y="1188720"/>
            <a:ext cx="1920240" cy="2011680"/>
          </a:xfrm>
          <a:prstGeom prst="roundRect">
            <a:avLst>
              <a:gd name="adj" fmla="val 3810"/>
            </a:avLst>
          </a:prstGeom>
          <a:solidFill>
            <a:schemeClr val="bg2"/>
          </a:solidFill>
          <a:ln w="12700">
            <a:solidFill>
              <a:schemeClr val="bg2"/>
            </a:solidFill>
            <a:prstDash val="solid"/>
          </a:ln>
        </p:spPr>
      </p:sp>
      <p:sp>
        <p:nvSpPr>
          <p:cNvPr id="12" name="Text 10"/>
          <p:cNvSpPr txBox="1"/>
          <p:nvPr/>
        </p:nvSpPr>
        <p:spPr>
          <a:xfrm>
            <a:off x="4663440" y="1325880"/>
            <a:ext cx="1920240" cy="82296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8 of 8</a:t>
            </a:r>
            <a:endParaRPr lang="en-US" sz="3400" dirty="0"/>
          </a:p>
        </p:txBody>
      </p:sp>
      <p:sp>
        <p:nvSpPr>
          <p:cNvPr id="13" name="Text 11"/>
          <p:cNvSpPr txBox="1"/>
          <p:nvPr/>
        </p:nvSpPr>
        <p:spPr>
          <a:xfrm>
            <a:off x="4754880" y="2194560"/>
            <a:ext cx="1737360" cy="457200"/>
          </a:xfrm>
          <a:prstGeom prst="rect">
            <a:avLst/>
          </a:prstGeom>
          <a:noFill/>
          <a:ln/>
        </p:spPr>
        <p:txBody>
          <a:bodyPr wrap="square" lIns="0" tIns="0" rIns="0" bIns="0" rtlCol="0" anchor="t"/>
          <a:lstStyle/>
          <a:p>
            <a:pPr algn="ctr" indent="0" marL="0">
              <a:buNone/>
            </a:pPr>
            <a:r>
              <a:rPr lang="en-US" sz="1400" b="1" dirty="0">
                <a:solidFill>
                  <a:schemeClr val="tx2"/>
                </a:solidFill>
              </a:rPr>
              <a:t>citations verified</a:t>
            </a:r>
            <a:endParaRPr lang="en-US" sz="1400" dirty="0"/>
          </a:p>
        </p:txBody>
      </p:sp>
      <p:sp>
        <p:nvSpPr>
          <p:cNvPr id="14" name="Text 12"/>
          <p:cNvSpPr txBox="1"/>
          <p:nvPr/>
        </p:nvSpPr>
        <p:spPr>
          <a:xfrm>
            <a:off x="4754880" y="2651760"/>
            <a:ext cx="1737360" cy="457200"/>
          </a:xfrm>
          <a:prstGeom prst="rect">
            <a:avLst/>
          </a:prstGeom>
          <a:noFill/>
          <a:ln/>
        </p:spPr>
        <p:txBody>
          <a:bodyPr wrap="square" lIns="0" tIns="0" rIns="0" bIns="0" rtlCol="0" anchor="t"/>
          <a:lstStyle/>
          <a:p>
            <a:pPr algn="ctr" indent="0" marL="0">
              <a:buNone/>
            </a:pPr>
            <a:r>
              <a:rPr lang="en-US" sz="1200" dirty="0">
                <a:solidFill>
                  <a:schemeClr val="accent4"/>
                </a:solidFill>
              </a:rPr>
              <a:t>COB question, about 39 s</a:t>
            </a:r>
            <a:endParaRPr lang="en-US" sz="1200" dirty="0"/>
          </a:p>
        </p:txBody>
      </p:sp>
      <p:sp>
        <p:nvSpPr>
          <p:cNvPr id="15" name="stat-card-3"/>
          <p:cNvSpPr/>
          <p:nvPr/>
        </p:nvSpPr>
        <p:spPr>
          <a:xfrm>
            <a:off x="6766560" y="1188720"/>
            <a:ext cx="1920240" cy="2011680"/>
          </a:xfrm>
          <a:prstGeom prst="roundRect">
            <a:avLst>
              <a:gd name="adj" fmla="val 3810"/>
            </a:avLst>
          </a:prstGeom>
          <a:solidFill>
            <a:schemeClr val="bg2"/>
          </a:solidFill>
          <a:ln w="12700">
            <a:solidFill>
              <a:schemeClr val="bg2"/>
            </a:solidFill>
            <a:prstDash val="solid"/>
          </a:ln>
        </p:spPr>
      </p:sp>
      <p:sp>
        <p:nvSpPr>
          <p:cNvPr id="16" name="Text 14"/>
          <p:cNvSpPr txBox="1"/>
          <p:nvPr/>
        </p:nvSpPr>
        <p:spPr>
          <a:xfrm>
            <a:off x="6766560" y="1325880"/>
            <a:ext cx="1920240" cy="82296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110</a:t>
            </a:r>
            <a:endParaRPr lang="en-US" sz="3400" dirty="0"/>
          </a:p>
        </p:txBody>
      </p:sp>
      <p:sp>
        <p:nvSpPr>
          <p:cNvPr id="17" name="Text 15"/>
          <p:cNvSpPr txBox="1"/>
          <p:nvPr/>
        </p:nvSpPr>
        <p:spPr>
          <a:xfrm>
            <a:off x="6858000" y="2194560"/>
            <a:ext cx="1737360" cy="457200"/>
          </a:xfrm>
          <a:prstGeom prst="rect">
            <a:avLst/>
          </a:prstGeom>
          <a:noFill/>
          <a:ln/>
        </p:spPr>
        <p:txBody>
          <a:bodyPr wrap="square" lIns="0" tIns="0" rIns="0" bIns="0" rtlCol="0" anchor="t"/>
          <a:lstStyle/>
          <a:p>
            <a:pPr algn="ctr" indent="0" marL="0">
              <a:buNone/>
            </a:pPr>
            <a:r>
              <a:rPr lang="en-US" sz="1400" b="1" dirty="0">
                <a:solidFill>
                  <a:schemeClr val="tx2"/>
                </a:solidFill>
              </a:rPr>
              <a:t>automated tests pass</a:t>
            </a:r>
            <a:endParaRPr lang="en-US" sz="1400" dirty="0"/>
          </a:p>
        </p:txBody>
      </p:sp>
      <p:sp>
        <p:nvSpPr>
          <p:cNvPr id="18" name="Text 16"/>
          <p:cNvSpPr txBox="1"/>
          <p:nvPr/>
        </p:nvSpPr>
        <p:spPr>
          <a:xfrm>
            <a:off x="6858000" y="2651760"/>
            <a:ext cx="1737360" cy="457200"/>
          </a:xfrm>
          <a:prstGeom prst="rect">
            <a:avLst/>
          </a:prstGeom>
          <a:noFill/>
          <a:ln/>
        </p:spPr>
        <p:txBody>
          <a:bodyPr wrap="square" lIns="0" tIns="0" rIns="0" bIns="0" rtlCol="0" anchor="t"/>
          <a:lstStyle/>
          <a:p>
            <a:pPr algn="ctr" indent="0" marL="0">
              <a:buNone/>
            </a:pPr>
            <a:r>
              <a:rPr lang="en-US" sz="1200" dirty="0">
                <a:solidFill>
                  <a:schemeClr val="accent4"/>
                </a:solidFill>
              </a:rPr>
              <a:t>on the development machine</a:t>
            </a:r>
            <a:endParaRPr lang="en-US" sz="1200" dirty="0"/>
          </a:p>
        </p:txBody>
      </p:sp>
      <p:pic>
        <p:nvPicPr>
          <p:cNvPr id="19" name="not-measured-icon" descr="preencoded.png">    </p:cNvPr>
          <p:cNvPicPr>
            <a:picLocks noChangeAspect="1"/>
          </p:cNvPicPr>
          <p:nvPr/>
        </p:nvPicPr>
        <p:blipFill>
          <a:blip r:embed="rId1"/>
          <a:stretch>
            <a:fillRect/>
          </a:stretch>
        </p:blipFill>
        <p:spPr>
          <a:xfrm>
            <a:off x="457200" y="3520440"/>
            <a:ext cx="320040" cy="320040"/>
          </a:xfrm>
          <a:prstGeom prst="rect">
            <a:avLst/>
          </a:prstGeom>
        </p:spPr>
      </p:pic>
      <p:sp>
        <p:nvSpPr>
          <p:cNvPr id="20" name="Text 17"/>
          <p:cNvSpPr txBox="1"/>
          <p:nvPr/>
        </p:nvSpPr>
        <p:spPr>
          <a:xfrm>
            <a:off x="914400" y="3493008"/>
            <a:ext cx="7772400" cy="365760"/>
          </a:xfrm>
          <a:prstGeom prst="rect">
            <a:avLst/>
          </a:prstGeom>
          <a:noFill/>
          <a:ln/>
        </p:spPr>
        <p:txBody>
          <a:bodyPr wrap="square" lIns="0" tIns="0" rIns="0" bIns="0" rtlCol="0" anchor="t"/>
          <a:lstStyle/>
          <a:p>
            <a:pPr indent="0" marL="0">
              <a:buNone/>
            </a:pPr>
            <a:r>
              <a:rPr lang="en-US" sz="1600" b="1" dirty="0">
                <a:solidFill>
                  <a:schemeClr val="tx2"/>
                </a:solidFill>
              </a:rPr>
              <a:t>Not measured yet</a:t>
            </a:r>
            <a:endParaRPr lang="en-US" sz="1600" dirty="0"/>
          </a:p>
        </p:txBody>
      </p:sp>
      <p:sp>
        <p:nvSpPr>
          <p:cNvPr id="21" name="Text 18"/>
          <p:cNvSpPr txBox="1"/>
          <p:nvPr/>
        </p:nvSpPr>
        <p:spPr>
          <a:xfrm>
            <a:off x="914400" y="3840480"/>
            <a:ext cx="7772400" cy="731520"/>
          </a:xfrm>
          <a:prstGeom prst="rect">
            <a:avLst/>
          </a:prstGeom>
          <a:noFill/>
          <a:ln/>
        </p:spPr>
        <p:txBody>
          <a:bodyPr wrap="square" lIns="0" tIns="0" rIns="0" bIns="0" rtlCol="0" anchor="t"/>
          <a:lstStyle/>
          <a:p>
            <a:pPr indent="0" marL="0">
              <a:buNone/>
            </a:pPr>
            <a:r>
              <a:rPr lang="en-US" sz="1300" dirty="0">
                <a:solidFill>
                  <a:schemeClr val="accent4"/>
                </a:solidFill>
              </a:rPr>
              <a:t>Accuracy on real questions, time saved and cost per question. Next: a 20-question test set with known answers (Recall@5, citation correctness) and a timed comparison with manual search.</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Challenges and fixes</a:t>
            </a:r>
            <a:endParaRPr lang="en-US" sz="3600" dirty="0"/>
          </a:p>
        </p:txBody>
      </p:sp>
      <p:sp>
        <p:nvSpPr>
          <p:cNvPr id="3" name="challenge-0"/>
          <p:cNvSpPr/>
          <p:nvPr/>
        </p:nvSpPr>
        <p:spPr>
          <a:xfrm>
            <a:off x="457200" y="1188720"/>
            <a:ext cx="3657600" cy="685800"/>
          </a:xfrm>
          <a:prstGeom prst="roundRect">
            <a:avLst>
              <a:gd name="adj" fmla="val 10667"/>
            </a:avLst>
          </a:prstGeom>
          <a:solidFill>
            <a:schemeClr val="bg2"/>
          </a:solidFill>
          <a:ln w="12700">
            <a:solidFill>
              <a:schemeClr val="bg2"/>
            </a:solidFill>
            <a:prstDash val="solid"/>
          </a:ln>
        </p:spPr>
      </p:sp>
      <p:pic>
        <p:nvPicPr>
          <p:cNvPr id="4" name="challenge-icon-0" descr="preencoded.png">    </p:cNvPr>
          <p:cNvPicPr>
            <a:picLocks noChangeAspect="1"/>
          </p:cNvPicPr>
          <p:nvPr/>
        </p:nvPicPr>
        <p:blipFill>
          <a:blip r:embed="rId1"/>
          <a:stretch>
            <a:fillRect/>
          </a:stretch>
        </p:blipFill>
        <p:spPr>
          <a:xfrm>
            <a:off x="640080" y="1371600"/>
            <a:ext cx="320040" cy="320040"/>
          </a:xfrm>
          <a:prstGeom prst="rect">
            <a:avLst/>
          </a:prstGeom>
        </p:spPr>
      </p:pic>
      <p:sp>
        <p:nvSpPr>
          <p:cNvPr id="5" name="Text 2"/>
          <p:cNvSpPr txBox="1"/>
          <p:nvPr/>
        </p:nvSpPr>
        <p:spPr>
          <a:xfrm>
            <a:off x="1097280" y="1188720"/>
            <a:ext cx="2926080" cy="685800"/>
          </a:xfrm>
          <a:prstGeom prst="rect">
            <a:avLst/>
          </a:prstGeom>
          <a:noFill/>
          <a:ln/>
        </p:spPr>
        <p:txBody>
          <a:bodyPr wrap="square" lIns="0" tIns="0" rIns="0" bIns="0" rtlCol="0" anchor="ctr"/>
          <a:lstStyle/>
          <a:p>
            <a:pPr indent="0" marL="0">
              <a:buNone/>
            </a:pPr>
            <a:r>
              <a:rPr lang="en-US" sz="1400" b="1" dirty="0">
                <a:solidFill>
                  <a:schemeClr val="tx2"/>
                </a:solidFill>
              </a:rPr>
              <a:t>API key rejected (401)</a:t>
            </a:r>
            <a:endParaRPr lang="en-US" sz="1400" dirty="0"/>
          </a:p>
        </p:txBody>
      </p:sp>
      <p:pic>
        <p:nvPicPr>
          <p:cNvPr id="6" name="challenge-arrow-0" descr="preencoded.png">    </p:cNvPr>
          <p:cNvPicPr>
            <a:picLocks noChangeAspect="1"/>
          </p:cNvPicPr>
          <p:nvPr/>
        </p:nvPicPr>
        <p:blipFill>
          <a:blip r:embed="rId2"/>
          <a:stretch>
            <a:fillRect/>
          </a:stretch>
        </p:blipFill>
        <p:spPr>
          <a:xfrm>
            <a:off x="4297680" y="1389888"/>
            <a:ext cx="274320" cy="274320"/>
          </a:xfrm>
          <a:prstGeom prst="rect">
            <a:avLst/>
          </a:prstGeom>
        </p:spPr>
      </p:pic>
      <p:pic>
        <p:nvPicPr>
          <p:cNvPr id="7" name="fix-icon-0" descr="preencoded.png">    </p:cNvPr>
          <p:cNvPicPr>
            <a:picLocks noChangeAspect="1"/>
          </p:cNvPicPr>
          <p:nvPr/>
        </p:nvPicPr>
        <p:blipFill>
          <a:blip r:embed="rId3"/>
          <a:stretch>
            <a:fillRect/>
          </a:stretch>
        </p:blipFill>
        <p:spPr>
          <a:xfrm>
            <a:off x="4754880" y="1371600"/>
            <a:ext cx="320040" cy="320040"/>
          </a:xfrm>
          <a:prstGeom prst="rect">
            <a:avLst/>
          </a:prstGeom>
        </p:spPr>
      </p:pic>
      <p:sp>
        <p:nvSpPr>
          <p:cNvPr id="8" name="Text 3"/>
          <p:cNvSpPr txBox="1"/>
          <p:nvPr/>
        </p:nvSpPr>
        <p:spPr>
          <a:xfrm>
            <a:off x="5212080" y="1188720"/>
            <a:ext cx="3474720" cy="685800"/>
          </a:xfrm>
          <a:prstGeom prst="rect">
            <a:avLst/>
          </a:prstGeom>
          <a:noFill/>
          <a:ln/>
        </p:spPr>
        <p:txBody>
          <a:bodyPr wrap="square" lIns="0" tIns="0" rIns="0" bIns="0" rtlCol="0" anchor="ctr"/>
          <a:lstStyle/>
          <a:p>
            <a:pPr indent="0" marL="0">
              <a:buNone/>
            </a:pPr>
            <a:r>
              <a:rPr lang="en-US" sz="1300" dirty="0">
                <a:solidFill>
                  <a:schemeClr val="tx1"/>
                </a:solidFill>
              </a:rPr>
              <a:t>Added Vertex AI login (gcloud) for our company project</a:t>
            </a:r>
            <a:endParaRPr lang="en-US" sz="1300" dirty="0"/>
          </a:p>
        </p:txBody>
      </p:sp>
      <p:sp>
        <p:nvSpPr>
          <p:cNvPr id="9" name="challenge-1"/>
          <p:cNvSpPr/>
          <p:nvPr/>
        </p:nvSpPr>
        <p:spPr>
          <a:xfrm>
            <a:off x="457200" y="2029968"/>
            <a:ext cx="3657600" cy="685800"/>
          </a:xfrm>
          <a:prstGeom prst="roundRect">
            <a:avLst>
              <a:gd name="adj" fmla="val 10667"/>
            </a:avLst>
          </a:prstGeom>
          <a:solidFill>
            <a:schemeClr val="bg2"/>
          </a:solidFill>
          <a:ln w="12700">
            <a:solidFill>
              <a:schemeClr val="bg2"/>
            </a:solidFill>
            <a:prstDash val="solid"/>
          </a:ln>
        </p:spPr>
      </p:sp>
      <p:pic>
        <p:nvPicPr>
          <p:cNvPr id="10" name="challenge-icon-1" descr="preencoded.png">    </p:cNvPr>
          <p:cNvPicPr>
            <a:picLocks noChangeAspect="1"/>
          </p:cNvPicPr>
          <p:nvPr/>
        </p:nvPicPr>
        <p:blipFill>
          <a:blip r:embed="rId4"/>
          <a:stretch>
            <a:fillRect/>
          </a:stretch>
        </p:blipFill>
        <p:spPr>
          <a:xfrm>
            <a:off x="640080" y="2212848"/>
            <a:ext cx="320040" cy="320040"/>
          </a:xfrm>
          <a:prstGeom prst="rect">
            <a:avLst/>
          </a:prstGeom>
        </p:spPr>
      </p:pic>
      <p:sp>
        <p:nvSpPr>
          <p:cNvPr id="11" name="Text 5"/>
          <p:cNvSpPr txBox="1"/>
          <p:nvPr/>
        </p:nvSpPr>
        <p:spPr>
          <a:xfrm>
            <a:off x="1097280" y="2029968"/>
            <a:ext cx="2926080" cy="685800"/>
          </a:xfrm>
          <a:prstGeom prst="rect">
            <a:avLst/>
          </a:prstGeom>
          <a:noFill/>
          <a:ln/>
        </p:spPr>
        <p:txBody>
          <a:bodyPr wrap="square" lIns="0" tIns="0" rIns="0" bIns="0" rtlCol="0" anchor="ctr"/>
          <a:lstStyle/>
          <a:p>
            <a:pPr indent="0" marL="0">
              <a:buNone/>
            </a:pPr>
            <a:r>
              <a:rPr lang="en-US" sz="1400" b="1" dirty="0">
                <a:solidFill>
                  <a:schemeClr val="tx2"/>
                </a:solidFill>
              </a:rPr>
              <a:t>No pgvector on the laptop</a:t>
            </a:r>
            <a:endParaRPr lang="en-US" sz="1400" dirty="0"/>
          </a:p>
        </p:txBody>
      </p:sp>
      <p:pic>
        <p:nvPicPr>
          <p:cNvPr id="12" name="challenge-arrow-1" descr="preencoded.png">    </p:cNvPr>
          <p:cNvPicPr>
            <a:picLocks noChangeAspect="1"/>
          </p:cNvPicPr>
          <p:nvPr/>
        </p:nvPicPr>
        <p:blipFill>
          <a:blip r:embed="rId5"/>
          <a:stretch>
            <a:fillRect/>
          </a:stretch>
        </p:blipFill>
        <p:spPr>
          <a:xfrm>
            <a:off x="4297680" y="2231136"/>
            <a:ext cx="274320" cy="274320"/>
          </a:xfrm>
          <a:prstGeom prst="rect">
            <a:avLst/>
          </a:prstGeom>
        </p:spPr>
      </p:pic>
      <p:pic>
        <p:nvPicPr>
          <p:cNvPr id="13" name="fix-icon-1" descr="preencoded.png">    </p:cNvPr>
          <p:cNvPicPr>
            <a:picLocks noChangeAspect="1"/>
          </p:cNvPicPr>
          <p:nvPr/>
        </p:nvPicPr>
        <p:blipFill>
          <a:blip r:embed="rId6"/>
          <a:stretch>
            <a:fillRect/>
          </a:stretch>
        </p:blipFill>
        <p:spPr>
          <a:xfrm>
            <a:off x="4754880" y="2212848"/>
            <a:ext cx="320040" cy="320040"/>
          </a:xfrm>
          <a:prstGeom prst="rect">
            <a:avLst/>
          </a:prstGeom>
        </p:spPr>
      </p:pic>
      <p:sp>
        <p:nvSpPr>
          <p:cNvPr id="14" name="Text 6"/>
          <p:cNvSpPr txBox="1"/>
          <p:nvPr/>
        </p:nvSpPr>
        <p:spPr>
          <a:xfrm>
            <a:off x="5212080" y="2029968"/>
            <a:ext cx="3474720" cy="685800"/>
          </a:xfrm>
          <a:prstGeom prst="rect">
            <a:avLst/>
          </a:prstGeom>
          <a:noFill/>
          <a:ln/>
        </p:spPr>
        <p:txBody>
          <a:bodyPr wrap="square" lIns="0" tIns="0" rIns="0" bIns="0" rtlCol="0" anchor="ctr"/>
          <a:lstStyle/>
          <a:p>
            <a:pPr indent="0" marL="0">
              <a:buNone/>
            </a:pPr>
            <a:r>
              <a:rPr lang="en-US" sz="1300" dirty="0">
                <a:solidFill>
                  <a:schemeClr val="tx1"/>
                </a:solidFill>
              </a:rPr>
              <a:t>Built-in fallback in plain PostgreSQL: about 2 ms per search over 10,503 chunks</a:t>
            </a:r>
            <a:endParaRPr lang="en-US" sz="1300" dirty="0"/>
          </a:p>
        </p:txBody>
      </p:sp>
      <p:sp>
        <p:nvSpPr>
          <p:cNvPr id="15" name="challenge-2"/>
          <p:cNvSpPr/>
          <p:nvPr/>
        </p:nvSpPr>
        <p:spPr>
          <a:xfrm>
            <a:off x="457200" y="2871216"/>
            <a:ext cx="3657600" cy="685800"/>
          </a:xfrm>
          <a:prstGeom prst="roundRect">
            <a:avLst>
              <a:gd name="adj" fmla="val 10667"/>
            </a:avLst>
          </a:prstGeom>
          <a:solidFill>
            <a:schemeClr val="bg2"/>
          </a:solidFill>
          <a:ln w="12700">
            <a:solidFill>
              <a:schemeClr val="bg2"/>
            </a:solidFill>
            <a:prstDash val="solid"/>
          </a:ln>
        </p:spPr>
      </p:sp>
      <p:pic>
        <p:nvPicPr>
          <p:cNvPr id="16" name="challenge-icon-2" descr="preencoded.png">    </p:cNvPr>
          <p:cNvPicPr>
            <a:picLocks noChangeAspect="1"/>
          </p:cNvPicPr>
          <p:nvPr/>
        </p:nvPicPr>
        <p:blipFill>
          <a:blip r:embed="rId7"/>
          <a:stretch>
            <a:fillRect/>
          </a:stretch>
        </p:blipFill>
        <p:spPr>
          <a:xfrm>
            <a:off x="640080" y="3054096"/>
            <a:ext cx="320040" cy="320040"/>
          </a:xfrm>
          <a:prstGeom prst="rect">
            <a:avLst/>
          </a:prstGeom>
        </p:spPr>
      </p:pic>
      <p:sp>
        <p:nvSpPr>
          <p:cNvPr id="17" name="Text 8"/>
          <p:cNvSpPr txBox="1"/>
          <p:nvPr/>
        </p:nvSpPr>
        <p:spPr>
          <a:xfrm>
            <a:off x="1097280" y="2871216"/>
            <a:ext cx="2926080" cy="685800"/>
          </a:xfrm>
          <a:prstGeom prst="rect">
            <a:avLst/>
          </a:prstGeom>
          <a:noFill/>
          <a:ln/>
        </p:spPr>
        <p:txBody>
          <a:bodyPr wrap="square" lIns="0" tIns="0" rIns="0" bIns="0" rtlCol="0" anchor="ctr"/>
          <a:lstStyle/>
          <a:p>
            <a:pPr indent="0" marL="0">
              <a:buNone/>
            </a:pPr>
            <a:r>
              <a:rPr lang="en-US" sz="1400" b="1" dirty="0">
                <a:solidFill>
                  <a:schemeClr val="tx2"/>
                </a:solidFill>
              </a:rPr>
              <a:t>Newest Gemini model not enabled (404)</a:t>
            </a:r>
            <a:endParaRPr lang="en-US" sz="1400" dirty="0"/>
          </a:p>
        </p:txBody>
      </p:sp>
      <p:pic>
        <p:nvPicPr>
          <p:cNvPr id="18" name="challenge-arrow-2" descr="preencoded.png">    </p:cNvPr>
          <p:cNvPicPr>
            <a:picLocks noChangeAspect="1"/>
          </p:cNvPicPr>
          <p:nvPr/>
        </p:nvPicPr>
        <p:blipFill>
          <a:blip r:embed="rId8"/>
          <a:stretch>
            <a:fillRect/>
          </a:stretch>
        </p:blipFill>
        <p:spPr>
          <a:xfrm>
            <a:off x="4297680" y="3072384"/>
            <a:ext cx="274320" cy="274320"/>
          </a:xfrm>
          <a:prstGeom prst="rect">
            <a:avLst/>
          </a:prstGeom>
        </p:spPr>
      </p:pic>
      <p:pic>
        <p:nvPicPr>
          <p:cNvPr id="19" name="fix-icon-2" descr="preencoded.png">    </p:cNvPr>
          <p:cNvPicPr>
            <a:picLocks noChangeAspect="1"/>
          </p:cNvPicPr>
          <p:nvPr/>
        </p:nvPicPr>
        <p:blipFill>
          <a:blip r:embed="rId9"/>
          <a:stretch>
            <a:fillRect/>
          </a:stretch>
        </p:blipFill>
        <p:spPr>
          <a:xfrm>
            <a:off x="4754880" y="3054096"/>
            <a:ext cx="320040" cy="320040"/>
          </a:xfrm>
          <a:prstGeom prst="rect">
            <a:avLst/>
          </a:prstGeom>
        </p:spPr>
      </p:pic>
      <p:sp>
        <p:nvSpPr>
          <p:cNvPr id="20" name="Text 9"/>
          <p:cNvSpPr txBox="1"/>
          <p:nvPr/>
        </p:nvSpPr>
        <p:spPr>
          <a:xfrm>
            <a:off x="5212080" y="2871216"/>
            <a:ext cx="3474720" cy="685800"/>
          </a:xfrm>
          <a:prstGeom prst="rect">
            <a:avLst/>
          </a:prstGeom>
          <a:noFill/>
          <a:ln/>
        </p:spPr>
        <p:txBody>
          <a:bodyPr wrap="square" lIns="0" tIns="0" rIns="0" bIns="0" rtlCol="0" anchor="ctr"/>
          <a:lstStyle/>
          <a:p>
            <a:pPr indent="0" marL="0">
              <a:buNone/>
            </a:pPr>
            <a:r>
              <a:rPr lang="en-US" sz="1300" dirty="0">
                <a:solidFill>
                  <a:schemeClr val="tx1"/>
                </a:solidFill>
              </a:rPr>
              <a:t>Switched to gemini-2.5-flash with one setting, no code change</a:t>
            </a:r>
            <a:endParaRPr lang="en-US" sz="1300" dirty="0"/>
          </a:p>
        </p:txBody>
      </p:sp>
      <p:sp>
        <p:nvSpPr>
          <p:cNvPr id="21" name="challenge-3"/>
          <p:cNvSpPr/>
          <p:nvPr/>
        </p:nvSpPr>
        <p:spPr>
          <a:xfrm>
            <a:off x="457200" y="3712464"/>
            <a:ext cx="3657600" cy="685800"/>
          </a:xfrm>
          <a:prstGeom prst="roundRect">
            <a:avLst>
              <a:gd name="adj" fmla="val 10667"/>
            </a:avLst>
          </a:prstGeom>
          <a:solidFill>
            <a:schemeClr val="bg2"/>
          </a:solidFill>
          <a:ln w="12700">
            <a:solidFill>
              <a:schemeClr val="bg2"/>
            </a:solidFill>
            <a:prstDash val="solid"/>
          </a:ln>
        </p:spPr>
      </p:sp>
      <p:pic>
        <p:nvPicPr>
          <p:cNvPr id="22" name="challenge-icon-3" descr="preencoded.png">    </p:cNvPr>
          <p:cNvPicPr>
            <a:picLocks noChangeAspect="1"/>
          </p:cNvPicPr>
          <p:nvPr/>
        </p:nvPicPr>
        <p:blipFill>
          <a:blip r:embed="rId10"/>
          <a:stretch>
            <a:fillRect/>
          </a:stretch>
        </p:blipFill>
        <p:spPr>
          <a:xfrm>
            <a:off x="640080" y="3895344"/>
            <a:ext cx="320040" cy="320040"/>
          </a:xfrm>
          <a:prstGeom prst="rect">
            <a:avLst/>
          </a:prstGeom>
        </p:spPr>
      </p:pic>
      <p:sp>
        <p:nvSpPr>
          <p:cNvPr id="23" name="Text 11"/>
          <p:cNvSpPr txBox="1"/>
          <p:nvPr/>
        </p:nvSpPr>
        <p:spPr>
          <a:xfrm>
            <a:off x="1097280" y="3712464"/>
            <a:ext cx="2926080" cy="685800"/>
          </a:xfrm>
          <a:prstGeom prst="rect">
            <a:avLst/>
          </a:prstGeom>
          <a:noFill/>
          <a:ln/>
        </p:spPr>
        <p:txBody>
          <a:bodyPr wrap="square" lIns="0" tIns="0" rIns="0" bIns="0" rtlCol="0" anchor="ctr"/>
          <a:lstStyle/>
          <a:p>
            <a:pPr indent="0" marL="0">
              <a:buNone/>
            </a:pPr>
            <a:r>
              <a:rPr lang="en-US" sz="1400" b="1" dirty="0">
                <a:solidFill>
                  <a:schemeClr val="tx2"/>
                </a:solidFill>
              </a:rPr>
              <a:t>Long answers cut off</a:t>
            </a:r>
            <a:endParaRPr lang="en-US" sz="1400" dirty="0"/>
          </a:p>
        </p:txBody>
      </p:sp>
      <p:pic>
        <p:nvPicPr>
          <p:cNvPr id="24" name="challenge-arrow-3" descr="preencoded.png">    </p:cNvPr>
          <p:cNvPicPr>
            <a:picLocks noChangeAspect="1"/>
          </p:cNvPicPr>
          <p:nvPr/>
        </p:nvPicPr>
        <p:blipFill>
          <a:blip r:embed="rId11"/>
          <a:stretch>
            <a:fillRect/>
          </a:stretch>
        </p:blipFill>
        <p:spPr>
          <a:xfrm>
            <a:off x="4297680" y="3913632"/>
            <a:ext cx="274320" cy="274320"/>
          </a:xfrm>
          <a:prstGeom prst="rect">
            <a:avLst/>
          </a:prstGeom>
        </p:spPr>
      </p:pic>
      <p:pic>
        <p:nvPicPr>
          <p:cNvPr id="25" name="fix-icon-3" descr="preencoded.png">    </p:cNvPr>
          <p:cNvPicPr>
            <a:picLocks noChangeAspect="1"/>
          </p:cNvPicPr>
          <p:nvPr/>
        </p:nvPicPr>
        <p:blipFill>
          <a:blip r:embed="rId12"/>
          <a:stretch>
            <a:fillRect/>
          </a:stretch>
        </p:blipFill>
        <p:spPr>
          <a:xfrm>
            <a:off x="4754880" y="3895344"/>
            <a:ext cx="320040" cy="320040"/>
          </a:xfrm>
          <a:prstGeom prst="rect">
            <a:avLst/>
          </a:prstGeom>
        </p:spPr>
      </p:pic>
      <p:sp>
        <p:nvSpPr>
          <p:cNvPr id="26" name="Text 12"/>
          <p:cNvSpPr txBox="1"/>
          <p:nvPr/>
        </p:nvSpPr>
        <p:spPr>
          <a:xfrm>
            <a:off x="5212080" y="3712464"/>
            <a:ext cx="3474720" cy="685800"/>
          </a:xfrm>
          <a:prstGeom prst="rect">
            <a:avLst/>
          </a:prstGeom>
          <a:noFill/>
          <a:ln/>
        </p:spPr>
        <p:txBody>
          <a:bodyPr wrap="square" lIns="0" tIns="0" rIns="0" bIns="0" rtlCol="0" anchor="ctr"/>
          <a:lstStyle/>
          <a:p>
            <a:pPr indent="0" marL="0">
              <a:buNone/>
            </a:pPr>
            <a:r>
              <a:rPr lang="en-US" sz="1300" dirty="0">
                <a:solidFill>
                  <a:schemeClr val="tx1"/>
                </a:solidFill>
              </a:rPr>
              <a:t>Turned off extra thinking, added automatic retry and a plain-text fallback</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Limitations and next steps</a:t>
            </a:r>
            <a:endParaRPr lang="en-US" sz="3600" dirty="0"/>
          </a:p>
        </p:txBody>
      </p:sp>
      <p:sp>
        <p:nvSpPr>
          <p:cNvPr id="3" name="limits-card"/>
          <p:cNvSpPr/>
          <p:nvPr/>
        </p:nvSpPr>
        <p:spPr>
          <a:xfrm>
            <a:off x="457200" y="1188720"/>
            <a:ext cx="3931920" cy="3291840"/>
          </a:xfrm>
          <a:prstGeom prst="roundRect">
            <a:avLst>
              <a:gd name="adj" fmla="val 2222"/>
            </a:avLst>
          </a:prstGeom>
          <a:solidFill>
            <a:schemeClr val="bg2"/>
          </a:solidFill>
          <a:ln w="12700">
            <a:solidFill>
              <a:schemeClr val="bg2"/>
            </a:solidFill>
            <a:prstDash val="solid"/>
          </a:ln>
        </p:spPr>
      </p:sp>
      <p:sp>
        <p:nvSpPr>
          <p:cNvPr id="4" name="Text 2"/>
          <p:cNvSpPr txBox="1"/>
          <p:nvPr/>
        </p:nvSpPr>
        <p:spPr>
          <a:xfrm>
            <a:off x="731520" y="1325880"/>
            <a:ext cx="3474720" cy="365760"/>
          </a:xfrm>
          <a:prstGeom prst="rect">
            <a:avLst/>
          </a:prstGeom>
          <a:noFill/>
          <a:ln/>
        </p:spPr>
        <p:txBody>
          <a:bodyPr wrap="square" lIns="0" tIns="0" rIns="0" bIns="0" rtlCol="0" anchor="t"/>
          <a:lstStyle/>
          <a:p>
            <a:pPr indent="0" marL="0">
              <a:buNone/>
            </a:pPr>
            <a:r>
              <a:rPr lang="en-US" sz="1800" b="1" dirty="0">
                <a:solidFill>
                  <a:schemeClr val="tx2"/>
                </a:solidFill>
              </a:rPr>
              <a:t>Today</a:t>
            </a:r>
            <a:endParaRPr lang="en-US" sz="1800" dirty="0"/>
          </a:p>
        </p:txBody>
      </p:sp>
      <p:sp>
        <p:nvSpPr>
          <p:cNvPr id="5" name="Text 3"/>
          <p:cNvSpPr txBox="1"/>
          <p:nvPr/>
        </p:nvSpPr>
        <p:spPr>
          <a:xfrm>
            <a:off x="731520" y="1783080"/>
            <a:ext cx="347472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Runs on one laptop; database is started after each restart</a:t>
            </a:r>
            <a:endParaRPr lang="en-US" sz="1400" dirty="0"/>
          </a:p>
          <a:p>
            <a:pPr marL="342900" indent="-342900">
              <a:spcAft>
                <a:spcPts val="800"/>
              </a:spcAft>
              <a:buSzPct val="100000"/>
              <a:buChar char="•"/>
            </a:pPr>
            <a:r>
              <a:rPr lang="en-US" sz="1400" dirty="0">
                <a:solidFill>
                  <a:schemeClr val="tx1"/>
                </a:solidFill>
              </a:rPr>
              <a:t>No user login; chat history is shared on that machine</a:t>
            </a:r>
            <a:endParaRPr lang="en-US" sz="1400" dirty="0"/>
          </a:p>
          <a:p>
            <a:pPr marL="342900" indent="-342900">
              <a:spcAft>
                <a:spcPts val="800"/>
              </a:spcAft>
              <a:buSzPct val="100000"/>
              <a:buChar char="•"/>
            </a:pPr>
            <a:r>
              <a:rPr lang="en-US" sz="1400" dirty="0">
                <a:solidFill>
                  <a:schemeClr val="tx1"/>
                </a:solidFill>
              </a:rPr>
              <a:t>Very broad questions can be flagged as incomplete; focused questions work best</a:t>
            </a:r>
            <a:endParaRPr lang="en-US" sz="1400" dirty="0"/>
          </a:p>
          <a:p>
            <a:pPr marL="342900" indent="-342900">
              <a:spcAft>
                <a:spcPts val="800"/>
              </a:spcAft>
              <a:buSzPct val="100000"/>
              <a:buChar char="•"/>
            </a:pPr>
            <a:r>
              <a:rPr lang="en-US" sz="1400" dirty="0">
                <a:solidFill>
                  <a:schemeClr val="tx1"/>
                </a:solidFill>
              </a:rPr>
              <a:t>Accuracy and time saved not yet measured</a:t>
            </a:r>
            <a:endParaRPr lang="en-US" sz="1400" dirty="0"/>
          </a:p>
        </p:txBody>
      </p:sp>
      <p:sp>
        <p:nvSpPr>
          <p:cNvPr id="6" name="next-card"/>
          <p:cNvSpPr/>
          <p:nvPr/>
        </p:nvSpPr>
        <p:spPr>
          <a:xfrm>
            <a:off x="4754880" y="1188720"/>
            <a:ext cx="3931920" cy="3291840"/>
          </a:xfrm>
          <a:prstGeom prst="roundRect">
            <a:avLst>
              <a:gd name="adj" fmla="val 2222"/>
            </a:avLst>
          </a:prstGeom>
          <a:solidFill>
            <a:schemeClr val="tx2"/>
          </a:solidFill>
          <a:ln w="12700">
            <a:solidFill>
              <a:schemeClr val="tx2"/>
            </a:solidFill>
            <a:prstDash val="solid"/>
          </a:ln>
        </p:spPr>
      </p:sp>
      <p:sp>
        <p:nvSpPr>
          <p:cNvPr id="7" name="Text 5"/>
          <p:cNvSpPr txBox="1"/>
          <p:nvPr/>
        </p:nvSpPr>
        <p:spPr>
          <a:xfrm>
            <a:off x="5029200" y="1325880"/>
            <a:ext cx="3474720" cy="365760"/>
          </a:xfrm>
          <a:prstGeom prst="rect">
            <a:avLst/>
          </a:prstGeom>
          <a:noFill/>
          <a:ln/>
        </p:spPr>
        <p:txBody>
          <a:bodyPr wrap="square" lIns="0" tIns="0" rIns="0" bIns="0" rtlCol="0" anchor="t"/>
          <a:lstStyle/>
          <a:p>
            <a:pPr indent="0" marL="0">
              <a:buNone/>
            </a:pPr>
            <a:r>
              <a:rPr lang="en-US" sz="1800" b="1" dirty="0">
                <a:solidFill>
                  <a:schemeClr val="bg1"/>
                </a:solidFill>
              </a:rPr>
              <a:t>Next</a:t>
            </a:r>
            <a:endParaRPr lang="en-US" sz="1800" dirty="0"/>
          </a:p>
        </p:txBody>
      </p:sp>
      <p:sp>
        <p:nvSpPr>
          <p:cNvPr id="8" name="Text 6"/>
          <p:cNvSpPr txBox="1"/>
          <p:nvPr/>
        </p:nvSpPr>
        <p:spPr>
          <a:xfrm>
            <a:off x="5029200" y="1783080"/>
            <a:ext cx="347472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Build a 20-question test set and measure accuracy</a:t>
            </a:r>
            <a:endParaRPr lang="en-US" sz="1400" dirty="0"/>
          </a:p>
          <a:p>
            <a:pPr marL="342900" indent="-342900">
              <a:spcAft>
                <a:spcPts val="800"/>
              </a:spcAft>
              <a:buSzPct val="100000"/>
              <a:buChar char="•"/>
            </a:pPr>
            <a:r>
              <a:rPr lang="en-US" sz="1400" dirty="0">
                <a:solidFill>
                  <a:schemeClr val="bg1"/>
                </a:solidFill>
              </a:rPr>
              <a:t>Confirm approval for sending policy text to Vertex AI</a:t>
            </a:r>
            <a:endParaRPr lang="en-US" sz="1400" dirty="0"/>
          </a:p>
          <a:p>
            <a:pPr marL="342900" indent="-342900">
              <a:spcAft>
                <a:spcPts val="800"/>
              </a:spcAft>
              <a:buSzPct val="100000"/>
              <a:buChar char="•"/>
            </a:pPr>
            <a:r>
              <a:rPr lang="en-US" sz="1400" dirty="0">
                <a:solidFill>
                  <a:schemeClr val="bg1"/>
                </a:solidFill>
              </a:rPr>
              <a:t>Ask IT for pgvector</a:t>
            </a:r>
            <a:endParaRPr lang="en-US" sz="1400" dirty="0"/>
          </a:p>
          <a:p>
            <a:pPr marL="342900" indent="-342900">
              <a:spcAft>
                <a:spcPts val="800"/>
              </a:spcAft>
              <a:buSzPct val="100000"/>
              <a:buChar char="•"/>
            </a:pPr>
            <a:r>
              <a:rPr lang="en-US" sz="1400" dirty="0">
                <a:solidFill>
                  <a:schemeClr val="bg1"/>
                </a:solidFill>
              </a:rPr>
              <a:t>Shared server with company sign-on (SSO) if the team finds it useful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4400" b="1" dirty="0">
                <a:solidFill>
                  <a:schemeClr val="bg1"/>
                </a:solidFill>
              </a:rPr>
              <a:t>Questions?</a:t>
            </a:r>
            <a:endParaRPr lang="en-US" sz="4400" dirty="0"/>
          </a:p>
        </p:txBody>
      </p:sp>
      <p:sp>
        <p:nvSpPr>
          <p:cNvPr id="3" name="Text 0"/>
          <p:cNvSpPr/>
          <p:nvPr>
            <p:ph idx="101" type="body" hasCustomPrompt="1"/>
          </p:nvPr>
        </p:nvSpPr>
        <p:spPr>
          <a:xfrm>
            <a:off x="548640" y="2560320"/>
            <a:ext cx="8046720" cy="548640"/>
          </a:xfrm>
          <a:prstGeom prst="rect">
            <a:avLst/>
          </a:prstGeom>
          <a:noFill/>
          <a:ln/>
        </p:spPr>
        <p:txBody>
          <a:bodyPr wrap="square" lIns="0" tIns="0" rIns="0" bIns="0" rtlCol="0"/>
          <a:lstStyle/>
          <a:p>
            <a:pPr algn="l" indent="0" marL="0">
              <a:buNone/>
            </a:pPr>
            <a:r>
              <a:rPr lang="en-US" sz="2000" dirty="0">
                <a:solidFill>
                  <a:schemeClr val="accent6"/>
                </a:solidFill>
              </a:rPr>
              <a:t>Thank you</a:t>
            </a:r>
            <a:endParaRPr lang="en-US" sz="2000" dirty="0"/>
          </a:p>
        </p:txBody>
      </p:sp>
      <p:sp>
        <p:nvSpPr>
          <p:cNvPr id="4" name="questions-circle"/>
          <p:cNvSpPr/>
          <p:nvPr/>
        </p:nvSpPr>
        <p:spPr>
          <a:xfrm>
            <a:off x="7680960" y="548640"/>
            <a:ext cx="914400" cy="914400"/>
          </a:xfrm>
          <a:prstGeom prst="ellipse">
            <a:avLst/>
          </a:prstGeom>
          <a:solidFill>
            <a:schemeClr val="accent1"/>
          </a:solidFill>
          <a:ln w="12700">
            <a:solidFill>
              <a:schemeClr val="accent1"/>
            </a:solidFill>
            <a:prstDash val="solid"/>
          </a:ln>
        </p:spPr>
      </p:sp>
      <p:pic>
        <p:nvPicPr>
          <p:cNvPr id="5" name="questions-icon" descr="preencoded.png">    </p:cNvPr>
          <p:cNvPicPr>
            <a:picLocks noChangeAspect="1"/>
          </p:cNvPicPr>
          <p:nvPr/>
        </p:nvPicPr>
        <p:blipFill>
          <a:blip r:embed="rId1"/>
          <a:stretch>
            <a:fillRect/>
          </a:stretch>
        </p:blipFill>
        <p:spPr>
          <a:xfrm>
            <a:off x="7909560" y="777240"/>
            <a:ext cx="457200" cy="457200"/>
          </a:xfrm>
          <a:prstGeom prst="rect">
            <a:avLst/>
          </a:prstGeom>
        </p:spPr>
      </p:pic>
      <p:sp>
        <p:nvSpPr>
          <p:cNvPr id="6" name="Text 3"/>
          <p:cNvSpPr txBox="1"/>
          <p:nvPr/>
        </p:nvSpPr>
        <p:spPr>
          <a:xfrm>
            <a:off x="548640" y="4343400"/>
            <a:ext cx="8046720" cy="320040"/>
          </a:xfrm>
          <a:prstGeom prst="rect">
            <a:avLst/>
          </a:prstGeom>
          <a:noFill/>
          <a:ln/>
        </p:spPr>
        <p:txBody>
          <a:bodyPr wrap="square" lIns="0" tIns="0" rIns="0" bIns="0" rtlCol="0" anchor="t"/>
          <a:lstStyle/>
          <a:p>
            <a:pPr indent="0" marL="0">
              <a:buNone/>
            </a:pPr>
            <a:r>
              <a:rPr lang="en-US" sz="1200" dirty="0">
                <a:solidFill>
                  <a:schemeClr val="accent6"/>
                </a:solidFill>
              </a:rPr>
              <a:t>Code: github.com/charan4590/epolicies-rag</a:t>
            </a:r>
            <a:endParaRPr lang="en-US" sz="1200" dirty="0"/>
          </a:p>
        </p:txBody>
      </p:sp>
    </p:spTree>
  </p:cSld>
  <p:clrMapOvr>
    <a:masterClrMapping/>
  </p:clrMapOvr>
</p:sld>
</file>

<file path=ppt/theme/theme1.xml><?xml version="1.0" encoding="utf-8"?>
<a:theme xmlns:a="http://schemas.openxmlformats.org/drawingml/2006/main" name="ePolicies Teal">
  <a:themeElements>
    <a:clrScheme name="ePolicies Teal">
      <a:dk1>
        <a:srgbClr val="1B2A2F"/>
      </a:dk1>
      <a:lt1>
        <a:srgbClr val="FFFFFF"/>
      </a:lt1>
      <a:dk2>
        <a:srgbClr val="0B3C49"/>
      </a:dk2>
      <a:lt2>
        <a:srgbClr val="E8F3F3"/>
      </a:lt2>
      <a:accent1>
        <a:srgbClr val="028090"/>
      </a:accent1>
      <a:accent2>
        <a:srgbClr val="00A896"/>
      </a:accent2>
      <a:accent3>
        <a:srgbClr val="F4A259"/>
      </a:accent3>
      <a:accent4>
        <a:srgbClr val="5C6B73"/>
      </a:accent4>
      <a:accent5>
        <a:srgbClr val="C8553D"/>
      </a:accent5>
      <a:accent6>
        <a:srgbClr val="7FB7BE"/>
      </a:accent6>
      <a:hlink>
        <a:srgbClr val="028090"/>
      </a:hlink>
      <a:folHlink>
        <a:srgbClr val="5C6B73"/>
      </a:folHlink>
    </a:clrScheme>
    <a:fontScheme name="ePolicies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ePolicies AI Assistant</dc:title>
  <dc:subject>PptxGenJS Presentation</dc:subject>
  <dc:creator>Sai Charan Peddanaboina</dc:creator>
  <cp:lastModifiedBy>Sai Charan Peddanaboina</cp:lastModifiedBy>
  <cp:revision>1</cp:revision>
  <dcterms:created xsi:type="dcterms:W3CDTF">2026-10-22T06:19:14Z</dcterms:created>
  <dcterms:modified xsi:type="dcterms:W3CDTF">2026-10-22T06:19:14Z</dcterms:modified>
</cp:coreProperties>
</file>